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303" r:id="rId5"/>
    <p:sldId id="305" r:id="rId6"/>
    <p:sldId id="307" r:id="rId7"/>
    <p:sldId id="264" r:id="rId8"/>
    <p:sldId id="315" r:id="rId9"/>
    <p:sldId id="316" r:id="rId10"/>
    <p:sldId id="318" r:id="rId11"/>
    <p:sldId id="323" r:id="rId12"/>
    <p:sldId id="325" r:id="rId13"/>
    <p:sldId id="329" r:id="rId14"/>
    <p:sldId id="274" r:id="rId15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83" autoAdjust="0"/>
  </p:normalViewPr>
  <p:slideViewPr>
    <p:cSldViewPr snapToGrid="0" showGuides="1">
      <p:cViewPr varScale="1">
        <p:scale>
          <a:sx n="89" d="100"/>
          <a:sy n="89" d="100"/>
        </p:scale>
        <p:origin x="269" y="-17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78" r="-17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437165"/>
            <a:ext cx="6814457" cy="83003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spc="600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481139" y="5857101"/>
            <a:ext cx="1381124" cy="276999"/>
          </a:xfrm>
          <a:prstGeom prst="rect">
            <a:avLst/>
          </a:prstGeom>
          <a:noFill/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2952750" y="5857101"/>
            <a:ext cx="1998891" cy="276999"/>
          </a:xfrm>
          <a:prstGeom prst="rect">
            <a:avLst/>
          </a:prstGeom>
          <a:noFill/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9600" b="1" dirty="0"/>
          </a:p>
        </p:txBody>
      </p:sp>
      <p:cxnSp>
        <p:nvCxnSpPr>
          <p:cNvPr id="62" name="直接连接符 61"/>
          <p:cNvCxnSpPr/>
          <p:nvPr/>
        </p:nvCxnSpPr>
        <p:spPr>
          <a:xfrm>
            <a:off x="2907716" y="5861050"/>
            <a:ext cx="0" cy="273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446129" y="5861050"/>
            <a:ext cx="0" cy="273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cxnSpLocks/>
          </p:cNvCxnSpPr>
          <p:nvPr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9"/>
            <a:ext cx="20618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70377" y="1500189"/>
            <a:ext cx="8548519" cy="427831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2846319" y="1500188"/>
            <a:ext cx="0" cy="4278312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/>
        </p:nvSpPr>
        <p:spPr bwMode="auto">
          <a:xfrm>
            <a:off x="1851756" y="486283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78" r="-17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41680">
                  <a:schemeClr val="bg1">
                    <a:alpha val="79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2609850"/>
            <a:ext cx="10858500" cy="121147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6000"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833182"/>
            <a:ext cx="10858500" cy="176751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2026/10/17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OfficePLUS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5264150" y="1358901"/>
            <a:ext cx="1663700" cy="1324355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9600" b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78" r="-17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9600" b="1" dirty="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1028700"/>
            <a:ext cx="6807199" cy="27051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1"/>
            <a:ext cx="5159829" cy="276999"/>
          </a:xfrm>
          <a:prstGeom prst="rect">
            <a:avLst/>
          </a:prstGeom>
          <a:noFill/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573586"/>
            <a:ext cx="5159829" cy="276999"/>
          </a:xfrm>
          <a:prstGeom prst="rect">
            <a:avLst/>
          </a:prstGeom>
          <a:noFill/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9">
              <a:alphaModFix amt="10000"/>
            </a:blip>
            <a:srcRect/>
            <a:stretch>
              <a:fillRect l="-4320" r="-11648" b="-1555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1360489"/>
            <a:ext cx="6466114" cy="2030411"/>
          </a:xfrm>
        </p:spPr>
        <p:txBody>
          <a:bodyPr/>
          <a:lstStyle/>
          <a:p>
            <a:r>
              <a:rPr lang="zh-CN" altLang="en-US" dirty="0"/>
              <a:t>轻羽智评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437165"/>
            <a:ext cx="6466114" cy="1016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kern="5000" spc="2600" dirty="0"/>
              <a:t>端侧人工智能羽毛球动作识别与规范评估系统</a:t>
            </a:r>
            <a:endParaRPr lang="en-US" altLang="zh-CN" sz="1800" kern="5000" spc="2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481139" y="5857101"/>
            <a:ext cx="1381124" cy="276999"/>
          </a:xfrm>
        </p:spPr>
        <p:txBody>
          <a:bodyPr/>
          <a:lstStyle/>
          <a:p>
            <a:r>
              <a:rPr dirty="0" err="1"/>
              <a:t>成员：XXXX、XXXX、XXXX</a:t>
            </a:r>
            <a:endParaRPr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797940B-903D-6796-E90E-F293A74E121D}"/>
              </a:ext>
            </a:extLst>
          </p:cNvPr>
          <p:cNvSpPr txBox="1"/>
          <p:nvPr/>
        </p:nvSpPr>
        <p:spPr>
          <a:xfrm>
            <a:off x="660400" y="5858559"/>
            <a:ext cx="777875" cy="276999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spAutoFit/>
          </a:bodyPr>
          <a:lstStyle/>
          <a:p>
            <a:r>
              <a:t>2026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37FCFA-7CF5-C63A-9BC1-C14060C9768F}"/>
              </a:ext>
            </a:extLst>
          </p:cNvPr>
          <p:cNvSpPr txBox="1">
            <a:spLocks/>
          </p:cNvSpPr>
          <p:nvPr/>
        </p:nvSpPr>
        <p:spPr>
          <a:xfrm>
            <a:off x="769611" y="664118"/>
            <a:ext cx="2595890" cy="306467"/>
          </a:xfrm>
          <a:prstGeom prst="round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t>SMART BADMINTON · EDGE AI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6A0D2C4-CC89-6569-3FB0-D6FAFD9206A0}"/>
              </a:ext>
            </a:extLst>
          </p:cNvPr>
          <p:cNvSpPr txBox="1">
            <a:spLocks/>
          </p:cNvSpPr>
          <p:nvPr/>
        </p:nvSpPr>
        <p:spPr>
          <a:xfrm>
            <a:off x="679449" y="4423211"/>
            <a:ext cx="7153109" cy="43088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</a:defRPr>
            </a:lvl1pPr>
          </a:lstStyle>
          <a:p>
            <a:r>
              <a:t>端侧 · 实时 · 可解释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目录 CONTENTS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7AE498-5499-746E-61E7-DB662277BE03}"/>
              </a:ext>
            </a:extLst>
          </p:cNvPr>
          <p:cNvSpPr txBox="1">
            <a:spLocks/>
          </p:cNvSpPr>
          <p:nvPr/>
        </p:nvSpPr>
        <p:spPr>
          <a:xfrm>
            <a:off x="660399" y="5872490"/>
            <a:ext cx="10858500" cy="26161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</a:defRPr>
            </a:lvl1pPr>
          </a:lstStyle>
          <a:p>
            <a:r>
              <a:t>轻羽智评 · SMART BADMINTON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01  项目背景与痛点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02  现有技术对比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03  系统总体设计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04  核心技术与创新点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0690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05  动作识别与实验数据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06  四项评分与建议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07  端侧部署与性能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08  应用推广与未来规划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项目背景与痛点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羽毛球普及度高，动作规范却难以自查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专业教练稀缺、费用较高，普通人缺少及时反馈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市面方案多依赖云端，存在隐私与网络依赖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目标：单摄像头加端侧 AI，做随时可用的动作教练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F5871-10F8-8B32-5B8E-83C0D45A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现有技术对比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人工录像回看：无量化指标，依赖个人经验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云端动作分析：需联网，隐私风险，评分不透明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本系统：端侧本地运行，实时量化，建议可解释</a:t>
            </a:r>
          </a:p>
        </p:txBody>
      </p:sp>
    </p:spTree>
    <p:extLst>
      <p:ext uri="{BB962C8B-B14F-4D97-AF65-F5344CB8AC3E}">
        <p14:creationId xmlns:p14="http://schemas.microsoft.com/office/powerpoint/2010/main" val="4483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B7A76-A593-D939-80C7-780D4B6A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系统总体设计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三级流水线：视频流粗筛 → 姿态关键点 → 识别与评分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一套算法、两种入口：实时与录像共用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局域网 Web：实时、回看、报告、双视角融合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053" y="3703320"/>
            <a:ext cx="3699587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4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C5EB2-CBB4-C7B2-B1A1-A2495869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核心技术与创新点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活动触发式切分：一拍一次，快慢挥拍自适应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识别门控：无动作不强行归类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AHP 可解释评分：权重可追溯，建议可解释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目标域微调：同人同机位识别 87.9%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双视角融合：正面加侧面分时采集</a:t>
            </a:r>
          </a:p>
        </p:txBody>
      </p:sp>
    </p:spTree>
    <p:extLst>
      <p:ext uri="{BB962C8B-B14F-4D97-AF65-F5344CB8AC3E}">
        <p14:creationId xmlns:p14="http://schemas.microsoft.com/office/powerpoint/2010/main" val="405532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动作识别与实验数据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七类击球：正反手发球、高远球、杀球、吊球、挑球、搓球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过顶/非过顶分组门控，抑制跨组误判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域适配后同人同机位留出准确率 87.9% ± 3.6%</a:t>
            </a:r>
          </a:p>
        </p:txBody>
      </p:sp>
      <p:pic>
        <p:nvPicPr>
          <p:cNvPr id="4" name="Picture 3" descr="fig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86" y="3703320"/>
            <a:ext cx="5001321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65385-8BA3-1DEC-FEFF-62514045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四项评分与建议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动作标准度 50%、步伐 25%、连贯性 15%、动作识别 10%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识别置信度低于 0.5 时动作分减半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逐条错误规则加纠正话术，评分可解释</a:t>
            </a:r>
          </a:p>
        </p:txBody>
      </p:sp>
      <p:pic>
        <p:nvPicPr>
          <p:cNvPr id="4" name="Picture 3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65" y="3703320"/>
            <a:ext cx="6213763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9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303C4-8CEF-DDD5-7509-0109C01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端侧部署与性能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SC171 v3（QCM6490），ONNX Runtime 纯 CPU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显示 30fps，分析帧率 13~17fps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分类器 ONNX 约 0.36MB，姿态模型约 13MB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切分命中率 95.8%</a:t>
            </a:r>
          </a:p>
        </p:txBody>
      </p:sp>
      <p:pic>
        <p:nvPicPr>
          <p:cNvPr id="4" name="Picture 3" descr="开发板实物照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676" y="1325880"/>
            <a:ext cx="2067047" cy="289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9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26C28-DA8F-7758-DC5E-4920FAAA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系统界面</a:t>
            </a:r>
          </a:p>
        </p:txBody>
      </p:sp>
      <p:pic>
        <p:nvPicPr>
          <p:cNvPr id="3" name="Picture 2" descr="实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47" y="1154755"/>
            <a:ext cx="4754880" cy="2449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0947" y="363382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实时识别与建议</a:t>
            </a:r>
          </a:p>
        </p:txBody>
      </p:sp>
      <p:pic>
        <p:nvPicPr>
          <p:cNvPr id="5" name="Picture 4" descr="回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146989"/>
            <a:ext cx="4754880" cy="24645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5867" y="363382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逐帧回看</a:t>
            </a:r>
          </a:p>
        </p:txBody>
      </p:sp>
      <p:pic>
        <p:nvPicPr>
          <p:cNvPr id="7" name="Picture 6" descr="报告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947" y="3980240"/>
            <a:ext cx="4754880" cy="24380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0947" y="645383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会话报告</a:t>
            </a:r>
          </a:p>
        </p:txBody>
      </p:sp>
      <p:pic>
        <p:nvPicPr>
          <p:cNvPr id="9" name="Picture 8" descr="融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867" y="3969741"/>
            <a:ext cx="4754880" cy="24590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5867" y="645383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双视角融合</a:t>
            </a:r>
          </a:p>
        </p:txBody>
      </p:sp>
    </p:spTree>
    <p:extLst>
      <p:ext uri="{BB962C8B-B14F-4D97-AF65-F5344CB8AC3E}">
        <p14:creationId xmlns:p14="http://schemas.microsoft.com/office/powerpoint/2010/main" val="165160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2319-9DC2-1CE0-1B3B-FB890B75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性能对比与优势验证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端侧本地运行，无需联网，保护隐私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量化评分加可解释建议，区别于黑盒打分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实物可在现场演示，非纸面方案</a:t>
            </a:r>
          </a:p>
        </p:txBody>
      </p:sp>
      <p:pic>
        <p:nvPicPr>
          <p:cNvPr id="4" name="Picture 3" descr="fig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87" y="3703320"/>
            <a:ext cx="568492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9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DCFE7-AEE2-0398-6FEE-FBBCAC46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应用场景与推广价值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体校与俱乐部教学辅助、中小学体育课、居家训练、康复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单摄像头加开发板，硬件成本低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平台解耦：SC171 验证可行性，可迁移到 RK3588 等更低成本平台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同一套框架可迁移到健身、网球、乒乓球</a:t>
            </a:r>
          </a:p>
        </p:txBody>
      </p:sp>
    </p:spTree>
    <p:extLst>
      <p:ext uri="{BB962C8B-B14F-4D97-AF65-F5344CB8AC3E}">
        <p14:creationId xmlns:p14="http://schemas.microsoft.com/office/powerpoint/2010/main" val="18179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0D9ED-7E73-29A8-2E2E-D829F4F8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应用推广与未来规划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已完成数据、训练、评分、部署全链路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未来：NPU 加速、更多运动、专业示范数据集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社会价值：普及科学健身、缓解教练不足</a:t>
            </a:r>
          </a:p>
        </p:txBody>
      </p:sp>
    </p:spTree>
    <p:extLst>
      <p:ext uri="{BB962C8B-B14F-4D97-AF65-F5344CB8AC3E}">
        <p14:creationId xmlns:p14="http://schemas.microsoft.com/office/powerpoint/2010/main" val="154462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恳请各位评委批评指正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27C59D-5D18-C138-5366-41DA11D9D8B7}"/>
              </a:ext>
            </a:extLst>
          </p:cNvPr>
          <p:cNvSpPr txBox="1">
            <a:spLocks/>
          </p:cNvSpPr>
          <p:nvPr/>
        </p:nvSpPr>
        <p:spPr>
          <a:xfrm>
            <a:off x="769611" y="664118"/>
            <a:ext cx="2595890" cy="306467"/>
          </a:xfrm>
          <a:prstGeom prst="round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t>SMART BADMINTON · EDGE AI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372</Words>
  <Application>Microsoft Office PowerPoint</Application>
  <PresentationFormat>宽屏</PresentationFormat>
  <Paragraphs>68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微软雅黑</vt:lpstr>
      <vt:lpstr>Arial</vt:lpstr>
      <vt:lpstr>Designed by OfficePLUS</vt:lpstr>
      <vt:lpstr>轻羽智评</vt:lpstr>
      <vt:lpstr>目录 CONTENTS</vt:lpstr>
      <vt:lpstr>项目背景与痛点</vt:lpstr>
      <vt:lpstr>现有技术对比</vt:lpstr>
      <vt:lpstr>系统总体设计</vt:lpstr>
      <vt:lpstr>核心技术与创新点</vt:lpstr>
      <vt:lpstr>动作识别与实验数据</vt:lpstr>
      <vt:lpstr>四项评分与建议</vt:lpstr>
      <vt:lpstr>端侧部署与性能</vt:lpstr>
      <vt:lpstr>系统界面</vt:lpstr>
      <vt:lpstr>性能对比与优势验证</vt:lpstr>
      <vt:lpstr>应用场景与推广价值</vt:lpstr>
      <vt:lpstr>应用推广与未来规划</vt:lpstr>
      <vt:lpstr>恳请各位评委批评指正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伟强 孙</cp:lastModifiedBy>
  <cp:revision>3</cp:revision>
  <cp:lastPrinted>2025-03-04T16:00:00Z</cp:lastPrinted>
  <dcterms:created xsi:type="dcterms:W3CDTF">2025-03-04T16:00:00Z</dcterms:created>
  <dcterms:modified xsi:type="dcterms:W3CDTF">2026-10-17T09:14:11Z</dcterms:modified>
</cp:coreProperties>
</file>