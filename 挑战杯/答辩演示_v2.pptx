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59" r:id="rId4"/>
    <p:sldId id="263" r:id="rId5"/>
    <p:sldId id="264" r:id="rId6"/>
    <p:sldId id="265" r:id="rId7"/>
    <p:sldId id="260" r:id="rId8"/>
    <p:sldId id="266" r:id="rId9"/>
    <p:sldId id="269" r:id="rId10"/>
    <p:sldId id="268" r:id="rId11"/>
    <p:sldId id="261" r:id="rId12"/>
    <p:sldId id="267" r:id="rId13"/>
    <p:sldId id="270" r:id="rId14"/>
    <p:sldId id="271" r:id="rId15"/>
    <p:sldId id="262" r:id="rId16"/>
    <p:sldId id="272" r:id="rId17"/>
    <p:sldId id="273" r:id="rId18"/>
    <p:sldId id="257" r:id="rId19"/>
  </p:sldIdLst>
  <p:sldSz cx="12192000" cy="6858000"/>
  <p:notesSz cx="6858000" cy="9144000"/>
  <p:embeddedFontLst>
    <p:embeddedFont>
      <p:font typeface="思源宋体 CN Medium" panose="02010600030101010101" charset="-122"/>
      <p:regular r:id="rId22"/>
    </p:embeddedFont>
    <p:embeddedFont>
      <p:font typeface="微软雅黑" panose="020B0503020204020204" pitchFamily="34" charset="-122"/>
      <p:regular r:id="rId23"/>
      <p:bold r:id="rId24"/>
    </p:embeddedFont>
    <p:embeddedFont>
      <p:font typeface="等线 Light" panose="02010600030101010101" pitchFamily="2" charset="-122"/>
      <p:regular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9">
          <p15:clr>
            <a:srgbClr val="A4A3A4"/>
          </p15:clr>
        </p15:guide>
        <p15:guide id="2" pos="4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461" y="72"/>
      </p:cViewPr>
      <p:guideLst>
        <p:guide orient="horz" pos="1729"/>
        <p:guide pos="4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宋体 CN Medium" panose="0202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宋体 CN Medium" panose="02020500000000000000" charset="-122"/>
              </a:rPr>
              <a:t>2026/10/17</a:t>
            </a:fld>
            <a:endParaRPr lang="zh-CN" altLang="en-US">
              <a:latin typeface="思源宋体 CN Medium" panose="0202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宋体 CN Medium" panose="0202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宋体 CN Medium" panose="02020500000000000000" charset="-122"/>
              </a:rPr>
              <a:t>‹#›</a:t>
            </a:fld>
            <a:endParaRPr lang="zh-CN" altLang="en-US">
              <a:latin typeface="思源宋体 CN Medium" panose="0202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 Medium" panose="02020500000000000000" charset="-122"/>
                <a:ea typeface="思源宋体 CN Medium" panose="0202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 Medium" panose="02020500000000000000" charset="-122"/>
                <a:ea typeface="思源宋体 CN Medium" panose="02020500000000000000" charset="-122"/>
              </a:defRPr>
            </a:lvl1pPr>
          </a:lstStyle>
          <a:p>
            <a:fld id="{9A135655-8F9F-49C9-8BC8-89047BE1DB4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 Medium" panose="02020500000000000000" charset="-122"/>
                <a:ea typeface="思源宋体 CN Medium" panose="0202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 Medium" panose="02020500000000000000" charset="-122"/>
                <a:ea typeface="思源宋体 CN Medium" panose="02020500000000000000" charset="-122"/>
              </a:defRPr>
            </a:lvl1pPr>
          </a:lstStyle>
          <a:p>
            <a:fld id="{0D2836E0-D05B-45E6-A3F4-10B6A7685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 Medium" panose="02020500000000000000" charset="-122"/>
        <a:ea typeface="思源宋体 CN Medium" panose="020205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 Medium" panose="02020500000000000000" charset="-122"/>
        <a:ea typeface="思源宋体 CN Medium" panose="020205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 Medium" panose="02020500000000000000" charset="-122"/>
        <a:ea typeface="思源宋体 CN Medium" panose="020205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 Medium" panose="02020500000000000000" charset="-122"/>
        <a:ea typeface="思源宋体 CN Medium" panose="020205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 Medium" panose="02020500000000000000" charset="-122"/>
        <a:ea typeface="思源宋体 CN Medium" panose="020205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836E0-D05B-45E6-A3F4-10B6A76854C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思源宋体 CN Medium" panose="02020500000000000000" charset="-122"/>
              </a:defRPr>
            </a:lvl1pPr>
          </a:lstStyle>
          <a:p>
            <a:fld id="{7ED8F10D-7DE5-466E-A34E-03832C1C6E5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思源宋体 CN Medium" panose="0202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思源宋体 CN Medium" panose="02020500000000000000" charset="-122"/>
              </a:defRPr>
            </a:lvl1pPr>
          </a:lstStyle>
          <a:p>
            <a:fld id="{1835E116-EFB8-41A5-B846-F6EA8B3695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宋体 CN Medium" panose="020205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 Medium" panose="02020500000000000000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 Medium" panose="02020500000000000000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 Medium" panose="02020500000000000000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Medium" panose="02020500000000000000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Medium" panose="02020500000000000000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在水里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2" r="12773"/>
          <a:stretch>
            <a:fillRect/>
          </a:stretch>
        </p:blipFill>
        <p:spPr>
          <a:xfrm>
            <a:off x="0" y="0"/>
            <a:ext cx="124968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文本框 11"/>
          <p:cNvSpPr txBox="1"/>
          <p:nvPr/>
        </p:nvSpPr>
        <p:spPr>
          <a:xfrm>
            <a:off x="1082674" y="1899245"/>
            <a:ext cx="57766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latin typeface="+mj-ea"/>
                <a:ea typeface="+mj-ea"/>
              </a:rPr>
              <a:t>轻羽智评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82673" y="3044726"/>
            <a:ext cx="62134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latin typeface="+mj-ea"/>
                <a:ea typeface="+mj-ea"/>
              </a:rPr>
              <a:t>端侧人工智能羽毛球动作识别与规范评估系统</a:t>
            </a:r>
          </a:p>
        </p:txBody>
      </p:sp>
      <p:sp>
        <p:nvSpPr>
          <p:cNvPr id="15" name="矩形 14"/>
          <p:cNvSpPr/>
          <p:nvPr/>
        </p:nvSpPr>
        <p:spPr>
          <a:xfrm>
            <a:off x="678089" y="1957727"/>
            <a:ext cx="275770" cy="8458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/>
          <p:cNvSpPr/>
          <p:nvPr/>
        </p:nvSpPr>
        <p:spPr>
          <a:xfrm>
            <a:off x="1208086" y="5153780"/>
            <a:ext cx="3062578" cy="5683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016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/>
        </p:nvSpPr>
        <p:spPr>
          <a:xfrm>
            <a:off x="1208086" y="5153779"/>
            <a:ext cx="838200" cy="56832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  <a:effectLst>
            <a:outerShdw blurRad="1016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形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772" y="5226051"/>
            <a:ext cx="442828" cy="442828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038009" y="5268665"/>
            <a:ext cx="2086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+mj-ea"/>
                <a:ea typeface="+mj-ea"/>
              </a:rPr>
              <a:t>汇报时间：2026.10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1208085" y="4399103"/>
            <a:ext cx="3062579" cy="5683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016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/>
        </p:nvSpPr>
        <p:spPr>
          <a:xfrm>
            <a:off x="1208086" y="4399102"/>
            <a:ext cx="838200" cy="56832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  <a:effectLst>
            <a:outerShdw blurRad="1016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038009" y="4498599"/>
            <a:ext cx="2450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+mj-ea"/>
                <a:ea typeface="+mj-ea"/>
              </a:rPr>
              <a:t>汇报人：XXXX、XXXX</a:t>
            </a:r>
          </a:p>
        </p:txBody>
      </p:sp>
      <p:pic>
        <p:nvPicPr>
          <p:cNvPr id="31" name="图形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5772" y="4485578"/>
            <a:ext cx="395372" cy="395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在水里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15632" r="20637" b="7606"/>
          <a:stretch>
            <a:fillRect/>
          </a:stretch>
        </p:blipFill>
        <p:spPr>
          <a:xfrm flipH="1">
            <a:off x="0" y="0"/>
            <a:ext cx="12192000" cy="6858000"/>
          </a:xfrm>
          <a:custGeom>
            <a:avLst/>
            <a:gdLst>
              <a:gd name="connsiteX0" fmla="*/ 12192000 w 12192000"/>
              <a:gd name="connsiteY0" fmla="*/ 0 h 6858000"/>
              <a:gd name="connsiteX1" fmla="*/ 0 w 12192000"/>
              <a:gd name="connsiteY1" fmla="*/ 0 h 6858000"/>
              <a:gd name="connsiteX2" fmla="*/ 0 w 12192000"/>
              <a:gd name="connsiteY2" fmla="*/ 6858000 h 6858000"/>
              <a:gd name="connsiteX3" fmla="*/ 1219200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close/>
              </a:path>
            </a:pathLst>
          </a:custGeom>
        </p:spPr>
      </p:pic>
      <p:sp>
        <p:nvSpPr>
          <p:cNvPr id="9" name="文本框 8"/>
          <p:cNvSpPr txBox="1"/>
          <p:nvPr/>
        </p:nvSpPr>
        <p:spPr>
          <a:xfrm>
            <a:off x="2509210" y="588912"/>
            <a:ext cx="32159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596294" y="1558812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</a:rPr>
              <a:t>CONTENTS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274781" y="632575"/>
            <a:ext cx="5671085" cy="1157353"/>
            <a:chOff x="8273926" y="2111812"/>
            <a:chExt cx="3108937" cy="1595592"/>
          </a:xfrm>
        </p:grpSpPr>
        <p:sp>
          <p:nvSpPr>
            <p:cNvPr id="13" name="任意多边形: 形状 12"/>
            <p:cNvSpPr/>
            <p:nvPr/>
          </p:nvSpPr>
          <p:spPr>
            <a:xfrm>
              <a:off x="8273926" y="2116276"/>
              <a:ext cx="3108467" cy="1581729"/>
            </a:xfrm>
            <a:custGeom>
              <a:avLst/>
              <a:gdLst>
                <a:gd name="connsiteX0" fmla="*/ 3168644 w 3668693"/>
                <a:gd name="connsiteY0" fmla="*/ 1866796 h 1866796"/>
                <a:gd name="connsiteX1" fmla="*/ 0 w 3668693"/>
                <a:gd name="connsiteY1" fmla="*/ 1866796 h 1866796"/>
                <a:gd name="connsiteX2" fmla="*/ 0 w 3668693"/>
                <a:gd name="connsiteY2" fmla="*/ 422948 h 1866796"/>
                <a:gd name="connsiteX3" fmla="*/ 423225 w 3668693"/>
                <a:gd name="connsiteY3" fmla="*/ 0 h 1866796"/>
                <a:gd name="connsiteX4" fmla="*/ 3668694 w 3668693"/>
                <a:gd name="connsiteY4" fmla="*/ 0 h 1866796"/>
                <a:gd name="connsiteX5" fmla="*/ 3668694 w 3668693"/>
                <a:gd name="connsiteY5" fmla="*/ 1367024 h 1866796"/>
                <a:gd name="connsiteX6" fmla="*/ 3168644 w 3668693"/>
                <a:gd name="connsiteY6" fmla="*/ 1866796 h 186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8693" h="1866796">
                  <a:moveTo>
                    <a:pt x="3168644" y="1866796"/>
                  </a:moveTo>
                  <a:lnTo>
                    <a:pt x="0" y="1866796"/>
                  </a:lnTo>
                  <a:lnTo>
                    <a:pt x="0" y="422948"/>
                  </a:lnTo>
                  <a:cubicBezTo>
                    <a:pt x="165296" y="257929"/>
                    <a:pt x="257929" y="165296"/>
                    <a:pt x="423225" y="0"/>
                  </a:cubicBezTo>
                  <a:lnTo>
                    <a:pt x="3668694" y="0"/>
                  </a:lnTo>
                  <a:lnTo>
                    <a:pt x="3668694" y="1367024"/>
                  </a:lnTo>
                  <a:cubicBezTo>
                    <a:pt x="3473167" y="1561996"/>
                    <a:pt x="3363894" y="1671547"/>
                    <a:pt x="3168644" y="18667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01600" dist="38100" dir="2700000" sx="101000" sy="101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8274396" y="2111812"/>
              <a:ext cx="277525" cy="276820"/>
            </a:xfrm>
            <a:custGeom>
              <a:avLst/>
              <a:gdLst>
                <a:gd name="connsiteX0" fmla="*/ 832 w 327542"/>
                <a:gd name="connsiteY0" fmla="*/ 326710 h 326710"/>
                <a:gd name="connsiteX1" fmla="*/ 327542 w 327542"/>
                <a:gd name="connsiteY1" fmla="*/ 0 h 326710"/>
                <a:gd name="connsiteX2" fmla="*/ 237683 w 327542"/>
                <a:gd name="connsiteY2" fmla="*/ 0 h 326710"/>
                <a:gd name="connsiteX3" fmla="*/ 0 w 327542"/>
                <a:gd name="connsiteY3" fmla="*/ 237683 h 32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42" h="326710">
                  <a:moveTo>
                    <a:pt x="832" y="326710"/>
                  </a:moveTo>
                  <a:lnTo>
                    <a:pt x="327542" y="0"/>
                  </a:lnTo>
                  <a:lnTo>
                    <a:pt x="237683" y="0"/>
                  </a:lnTo>
                  <a:lnTo>
                    <a:pt x="0" y="237683"/>
                  </a:lnTo>
                  <a:close/>
                </a:path>
              </a:pathLst>
            </a:custGeom>
            <a:solidFill>
              <a:srgbClr val="FFFFFF">
                <a:alpha val="39000"/>
              </a:srgbClr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8275101" y="2115101"/>
              <a:ext cx="149924" cy="147809"/>
            </a:xfrm>
            <a:custGeom>
              <a:avLst/>
              <a:gdLst>
                <a:gd name="connsiteX0" fmla="*/ 0 w 176944"/>
                <a:gd name="connsiteY0" fmla="*/ 174449 h 174448"/>
                <a:gd name="connsiteX1" fmla="*/ 0 w 176944"/>
                <a:gd name="connsiteY1" fmla="*/ 0 h 174448"/>
                <a:gd name="connsiteX2" fmla="*/ 176945 w 176944"/>
                <a:gd name="connsiteY2" fmla="*/ 0 h 17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6944" h="174448">
                  <a:moveTo>
                    <a:pt x="0" y="174449"/>
                  </a:moveTo>
                  <a:lnTo>
                    <a:pt x="0" y="0"/>
                  </a:lnTo>
                  <a:lnTo>
                    <a:pt x="176945" y="0"/>
                  </a:lnTo>
                  <a:close/>
                </a:path>
              </a:pathLst>
            </a:custGeom>
            <a:solidFill>
              <a:srgbClr val="FFFFFF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8899004" y="3555364"/>
              <a:ext cx="2202105" cy="143345"/>
            </a:xfrm>
            <a:custGeom>
              <a:avLst/>
              <a:gdLst>
                <a:gd name="connsiteX0" fmla="*/ 2598982 w 2598981"/>
                <a:gd name="connsiteY0" fmla="*/ 0 h 169179"/>
                <a:gd name="connsiteX1" fmla="*/ 1129064 w 2598981"/>
                <a:gd name="connsiteY1" fmla="*/ 0 h 169179"/>
                <a:gd name="connsiteX2" fmla="*/ 1026724 w 2598981"/>
                <a:gd name="connsiteY2" fmla="*/ 102340 h 169179"/>
                <a:gd name="connsiteX3" fmla="*/ 66840 w 2598981"/>
                <a:gd name="connsiteY3" fmla="*/ 102340 h 169179"/>
                <a:gd name="connsiteX4" fmla="*/ 0 w 2598981"/>
                <a:gd name="connsiteY4" fmla="*/ 169179 h 16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8981" h="169179">
                  <a:moveTo>
                    <a:pt x="2598982" y="0"/>
                  </a:moveTo>
                  <a:lnTo>
                    <a:pt x="1129064" y="0"/>
                  </a:lnTo>
                  <a:lnTo>
                    <a:pt x="1026724" y="102340"/>
                  </a:lnTo>
                  <a:lnTo>
                    <a:pt x="66840" y="102340"/>
                  </a:lnTo>
                  <a:lnTo>
                    <a:pt x="0" y="169179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1027792" y="3352332"/>
              <a:ext cx="353662" cy="353662"/>
            </a:xfrm>
            <a:custGeom>
              <a:avLst/>
              <a:gdLst>
                <a:gd name="connsiteX0" fmla="*/ 417401 w 417401"/>
                <a:gd name="connsiteY0" fmla="*/ 0 h 417401"/>
                <a:gd name="connsiteX1" fmla="*/ 0 w 417401"/>
                <a:gd name="connsiteY1" fmla="*/ 417401 h 417401"/>
                <a:gd name="connsiteX2" fmla="*/ 417401 w 417401"/>
                <a:gd name="connsiteY2" fmla="*/ 417401 h 41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401" h="417401">
                  <a:moveTo>
                    <a:pt x="417401" y="0"/>
                  </a:moveTo>
                  <a:lnTo>
                    <a:pt x="0" y="417401"/>
                  </a:lnTo>
                  <a:lnTo>
                    <a:pt x="417401" y="417401"/>
                  </a:lnTo>
                  <a:close/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11190170" y="3514711"/>
              <a:ext cx="192693" cy="192693"/>
            </a:xfrm>
            <a:custGeom>
              <a:avLst/>
              <a:gdLst>
                <a:gd name="connsiteX0" fmla="*/ 227421 w 227421"/>
                <a:gd name="connsiteY0" fmla="*/ 0 h 227421"/>
                <a:gd name="connsiteX1" fmla="*/ 0 w 227421"/>
                <a:gd name="connsiteY1" fmla="*/ 227421 h 227421"/>
                <a:gd name="connsiteX2" fmla="*/ 227421 w 227421"/>
                <a:gd name="connsiteY2" fmla="*/ 227421 h 227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421" h="227421">
                  <a:moveTo>
                    <a:pt x="227421" y="0"/>
                  </a:moveTo>
                  <a:lnTo>
                    <a:pt x="0" y="227421"/>
                  </a:lnTo>
                  <a:lnTo>
                    <a:pt x="227421" y="227421"/>
                  </a:lnTo>
                  <a:close/>
                </a:path>
              </a:pathLst>
            </a:custGeom>
            <a:solidFill>
              <a:srgbClr val="FFFFFF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10867762" y="2116276"/>
              <a:ext cx="513456" cy="587478"/>
            </a:xfrm>
            <a:custGeom>
              <a:avLst/>
              <a:gdLst>
                <a:gd name="connsiteX0" fmla="*/ 0 w 605994"/>
                <a:gd name="connsiteY0" fmla="*/ 0 h 693357"/>
                <a:gd name="connsiteX1" fmla="*/ 39383 w 605994"/>
                <a:gd name="connsiteY1" fmla="*/ 39105 h 693357"/>
                <a:gd name="connsiteX2" fmla="*/ 473148 w 605994"/>
                <a:gd name="connsiteY2" fmla="*/ 39105 h 693357"/>
                <a:gd name="connsiteX3" fmla="*/ 556905 w 605994"/>
                <a:gd name="connsiteY3" fmla="*/ 123140 h 693357"/>
                <a:gd name="connsiteX4" fmla="*/ 556905 w 605994"/>
                <a:gd name="connsiteY4" fmla="*/ 644268 h 693357"/>
                <a:gd name="connsiteX5" fmla="*/ 605995 w 605994"/>
                <a:gd name="connsiteY5" fmla="*/ 693358 h 69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5994" h="693357">
                  <a:moveTo>
                    <a:pt x="0" y="0"/>
                  </a:moveTo>
                  <a:lnTo>
                    <a:pt x="39383" y="39105"/>
                  </a:lnTo>
                  <a:lnTo>
                    <a:pt x="473148" y="39105"/>
                  </a:lnTo>
                  <a:lnTo>
                    <a:pt x="556905" y="123140"/>
                  </a:lnTo>
                  <a:lnTo>
                    <a:pt x="556905" y="644268"/>
                  </a:lnTo>
                  <a:lnTo>
                    <a:pt x="605995" y="693358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8275101" y="2117686"/>
              <a:ext cx="1667969" cy="818945"/>
            </a:xfrm>
            <a:custGeom>
              <a:avLst/>
              <a:gdLst>
                <a:gd name="connsiteX0" fmla="*/ 0 w 1968580"/>
                <a:gd name="connsiteY0" fmla="*/ 966541 h 966540"/>
                <a:gd name="connsiteX1" fmla="*/ 66840 w 1968580"/>
                <a:gd name="connsiteY1" fmla="*/ 899701 h 966540"/>
                <a:gd name="connsiteX2" fmla="*/ 66840 w 1968580"/>
                <a:gd name="connsiteY2" fmla="*/ 490343 h 966540"/>
                <a:gd name="connsiteX3" fmla="*/ 419343 w 1968580"/>
                <a:gd name="connsiteY3" fmla="*/ 137840 h 966540"/>
                <a:gd name="connsiteX4" fmla="*/ 540264 w 1968580"/>
                <a:gd name="connsiteY4" fmla="*/ 137840 h 966540"/>
                <a:gd name="connsiteX5" fmla="*/ 624299 w 1968580"/>
                <a:gd name="connsiteY5" fmla="*/ 53805 h 966540"/>
                <a:gd name="connsiteX6" fmla="*/ 1914776 w 1968580"/>
                <a:gd name="connsiteY6" fmla="*/ 53805 h 966540"/>
                <a:gd name="connsiteX7" fmla="*/ 1968581 w 1968580"/>
                <a:gd name="connsiteY7" fmla="*/ 0 h 96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8580" h="966540">
                  <a:moveTo>
                    <a:pt x="0" y="966541"/>
                  </a:moveTo>
                  <a:lnTo>
                    <a:pt x="66840" y="899701"/>
                  </a:lnTo>
                  <a:lnTo>
                    <a:pt x="66840" y="490343"/>
                  </a:lnTo>
                  <a:lnTo>
                    <a:pt x="419343" y="137840"/>
                  </a:lnTo>
                  <a:lnTo>
                    <a:pt x="540264" y="137840"/>
                  </a:lnTo>
                  <a:lnTo>
                    <a:pt x="624299" y="53805"/>
                  </a:lnTo>
                  <a:lnTo>
                    <a:pt x="1914776" y="53805"/>
                  </a:lnTo>
                  <a:lnTo>
                    <a:pt x="1968581" y="0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5625094" y="795753"/>
            <a:ext cx="125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91000">
                      <a:schemeClr val="accent1">
                        <a:lumMod val="50000"/>
                      </a:schemeClr>
                    </a:gs>
                  </a:gsLst>
                  <a:lin ang="2700000" scaled="1"/>
                  <a:tileRect/>
                </a:gradFill>
                <a:latin typeface="+mj-ea"/>
                <a:ea typeface="+mj-ea"/>
              </a:rPr>
              <a:t>01</a:t>
            </a:r>
            <a:endParaRPr lang="zh-CN" altLang="en-US" sz="4800" dirty="0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91000">
                    <a:schemeClr val="accent1">
                      <a:lumMod val="50000"/>
                    </a:schemeClr>
                  </a:gs>
                </a:gsLst>
                <a:lin ang="2700000" scaled="1"/>
                <a:tileRect/>
              </a:gradFill>
              <a:latin typeface="+mj-ea"/>
              <a:ea typeface="+mj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080067" y="827602"/>
            <a:ext cx="37443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项目背景与总体方案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7090170" y="1308010"/>
            <a:ext cx="3744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+mn-ea"/>
              </a:rPr>
              <a:t>Background and overall design</a:t>
            </a:r>
            <a:endParaRPr lang="zh-CN" altLang="en-US" sz="1200" dirty="0">
              <a:latin typeface="+mn-ea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5274781" y="2056393"/>
            <a:ext cx="5671085" cy="1157353"/>
            <a:chOff x="8273926" y="2111812"/>
            <a:chExt cx="3108937" cy="1595592"/>
          </a:xfrm>
        </p:grpSpPr>
        <p:sp>
          <p:nvSpPr>
            <p:cNvPr id="178" name="任意多边形: 形状 177"/>
            <p:cNvSpPr/>
            <p:nvPr/>
          </p:nvSpPr>
          <p:spPr>
            <a:xfrm>
              <a:off x="8273926" y="2116276"/>
              <a:ext cx="3108467" cy="1581729"/>
            </a:xfrm>
            <a:custGeom>
              <a:avLst/>
              <a:gdLst>
                <a:gd name="connsiteX0" fmla="*/ 3168644 w 3668693"/>
                <a:gd name="connsiteY0" fmla="*/ 1866796 h 1866796"/>
                <a:gd name="connsiteX1" fmla="*/ 0 w 3668693"/>
                <a:gd name="connsiteY1" fmla="*/ 1866796 h 1866796"/>
                <a:gd name="connsiteX2" fmla="*/ 0 w 3668693"/>
                <a:gd name="connsiteY2" fmla="*/ 422948 h 1866796"/>
                <a:gd name="connsiteX3" fmla="*/ 423225 w 3668693"/>
                <a:gd name="connsiteY3" fmla="*/ 0 h 1866796"/>
                <a:gd name="connsiteX4" fmla="*/ 3668694 w 3668693"/>
                <a:gd name="connsiteY4" fmla="*/ 0 h 1866796"/>
                <a:gd name="connsiteX5" fmla="*/ 3668694 w 3668693"/>
                <a:gd name="connsiteY5" fmla="*/ 1367024 h 1866796"/>
                <a:gd name="connsiteX6" fmla="*/ 3168644 w 3668693"/>
                <a:gd name="connsiteY6" fmla="*/ 1866796 h 186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8693" h="1866796">
                  <a:moveTo>
                    <a:pt x="3168644" y="1866796"/>
                  </a:moveTo>
                  <a:lnTo>
                    <a:pt x="0" y="1866796"/>
                  </a:lnTo>
                  <a:lnTo>
                    <a:pt x="0" y="422948"/>
                  </a:lnTo>
                  <a:cubicBezTo>
                    <a:pt x="165296" y="257929"/>
                    <a:pt x="257929" y="165296"/>
                    <a:pt x="423225" y="0"/>
                  </a:cubicBezTo>
                  <a:lnTo>
                    <a:pt x="3668694" y="0"/>
                  </a:lnTo>
                  <a:lnTo>
                    <a:pt x="3668694" y="1367024"/>
                  </a:lnTo>
                  <a:cubicBezTo>
                    <a:pt x="3473167" y="1561996"/>
                    <a:pt x="3363894" y="1671547"/>
                    <a:pt x="3168644" y="18667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01600" dist="38100" dir="2700000" sx="101000" sy="101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8274396" y="2111812"/>
              <a:ext cx="277525" cy="276820"/>
            </a:xfrm>
            <a:custGeom>
              <a:avLst/>
              <a:gdLst>
                <a:gd name="connsiteX0" fmla="*/ 832 w 327542"/>
                <a:gd name="connsiteY0" fmla="*/ 326710 h 326710"/>
                <a:gd name="connsiteX1" fmla="*/ 327542 w 327542"/>
                <a:gd name="connsiteY1" fmla="*/ 0 h 326710"/>
                <a:gd name="connsiteX2" fmla="*/ 237683 w 327542"/>
                <a:gd name="connsiteY2" fmla="*/ 0 h 326710"/>
                <a:gd name="connsiteX3" fmla="*/ 0 w 327542"/>
                <a:gd name="connsiteY3" fmla="*/ 237683 h 32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42" h="326710">
                  <a:moveTo>
                    <a:pt x="832" y="326710"/>
                  </a:moveTo>
                  <a:lnTo>
                    <a:pt x="327542" y="0"/>
                  </a:lnTo>
                  <a:lnTo>
                    <a:pt x="237683" y="0"/>
                  </a:lnTo>
                  <a:lnTo>
                    <a:pt x="0" y="237683"/>
                  </a:lnTo>
                  <a:close/>
                </a:path>
              </a:pathLst>
            </a:custGeom>
            <a:solidFill>
              <a:srgbClr val="FFFFFF">
                <a:alpha val="39000"/>
              </a:srgbClr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0" name="任意多边形: 形状 179"/>
            <p:cNvSpPr/>
            <p:nvPr/>
          </p:nvSpPr>
          <p:spPr>
            <a:xfrm>
              <a:off x="8275101" y="2115101"/>
              <a:ext cx="149924" cy="147809"/>
            </a:xfrm>
            <a:custGeom>
              <a:avLst/>
              <a:gdLst>
                <a:gd name="connsiteX0" fmla="*/ 0 w 176944"/>
                <a:gd name="connsiteY0" fmla="*/ 174449 h 174448"/>
                <a:gd name="connsiteX1" fmla="*/ 0 w 176944"/>
                <a:gd name="connsiteY1" fmla="*/ 0 h 174448"/>
                <a:gd name="connsiteX2" fmla="*/ 176945 w 176944"/>
                <a:gd name="connsiteY2" fmla="*/ 0 h 17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6944" h="174448">
                  <a:moveTo>
                    <a:pt x="0" y="174449"/>
                  </a:moveTo>
                  <a:lnTo>
                    <a:pt x="0" y="0"/>
                  </a:lnTo>
                  <a:lnTo>
                    <a:pt x="176945" y="0"/>
                  </a:lnTo>
                  <a:close/>
                </a:path>
              </a:pathLst>
            </a:custGeom>
            <a:solidFill>
              <a:srgbClr val="FFFFFF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1" name="任意多边形: 形状 180"/>
            <p:cNvSpPr/>
            <p:nvPr/>
          </p:nvSpPr>
          <p:spPr>
            <a:xfrm>
              <a:off x="8899004" y="3555364"/>
              <a:ext cx="2202105" cy="143345"/>
            </a:xfrm>
            <a:custGeom>
              <a:avLst/>
              <a:gdLst>
                <a:gd name="connsiteX0" fmla="*/ 2598982 w 2598981"/>
                <a:gd name="connsiteY0" fmla="*/ 0 h 169179"/>
                <a:gd name="connsiteX1" fmla="*/ 1129064 w 2598981"/>
                <a:gd name="connsiteY1" fmla="*/ 0 h 169179"/>
                <a:gd name="connsiteX2" fmla="*/ 1026724 w 2598981"/>
                <a:gd name="connsiteY2" fmla="*/ 102340 h 169179"/>
                <a:gd name="connsiteX3" fmla="*/ 66840 w 2598981"/>
                <a:gd name="connsiteY3" fmla="*/ 102340 h 169179"/>
                <a:gd name="connsiteX4" fmla="*/ 0 w 2598981"/>
                <a:gd name="connsiteY4" fmla="*/ 169179 h 16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8981" h="169179">
                  <a:moveTo>
                    <a:pt x="2598982" y="0"/>
                  </a:moveTo>
                  <a:lnTo>
                    <a:pt x="1129064" y="0"/>
                  </a:lnTo>
                  <a:lnTo>
                    <a:pt x="1026724" y="102340"/>
                  </a:lnTo>
                  <a:lnTo>
                    <a:pt x="66840" y="102340"/>
                  </a:lnTo>
                  <a:lnTo>
                    <a:pt x="0" y="169179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11027792" y="3352332"/>
              <a:ext cx="353662" cy="353662"/>
            </a:xfrm>
            <a:custGeom>
              <a:avLst/>
              <a:gdLst>
                <a:gd name="connsiteX0" fmla="*/ 417401 w 417401"/>
                <a:gd name="connsiteY0" fmla="*/ 0 h 417401"/>
                <a:gd name="connsiteX1" fmla="*/ 0 w 417401"/>
                <a:gd name="connsiteY1" fmla="*/ 417401 h 417401"/>
                <a:gd name="connsiteX2" fmla="*/ 417401 w 417401"/>
                <a:gd name="connsiteY2" fmla="*/ 417401 h 41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401" h="417401">
                  <a:moveTo>
                    <a:pt x="417401" y="0"/>
                  </a:moveTo>
                  <a:lnTo>
                    <a:pt x="0" y="417401"/>
                  </a:lnTo>
                  <a:lnTo>
                    <a:pt x="417401" y="417401"/>
                  </a:lnTo>
                  <a:close/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3" name="任意多边形: 形状 182"/>
            <p:cNvSpPr/>
            <p:nvPr/>
          </p:nvSpPr>
          <p:spPr>
            <a:xfrm>
              <a:off x="11190170" y="3514711"/>
              <a:ext cx="192693" cy="192693"/>
            </a:xfrm>
            <a:custGeom>
              <a:avLst/>
              <a:gdLst>
                <a:gd name="connsiteX0" fmla="*/ 227421 w 227421"/>
                <a:gd name="connsiteY0" fmla="*/ 0 h 227421"/>
                <a:gd name="connsiteX1" fmla="*/ 0 w 227421"/>
                <a:gd name="connsiteY1" fmla="*/ 227421 h 227421"/>
                <a:gd name="connsiteX2" fmla="*/ 227421 w 227421"/>
                <a:gd name="connsiteY2" fmla="*/ 227421 h 227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421" h="227421">
                  <a:moveTo>
                    <a:pt x="227421" y="0"/>
                  </a:moveTo>
                  <a:lnTo>
                    <a:pt x="0" y="227421"/>
                  </a:lnTo>
                  <a:lnTo>
                    <a:pt x="227421" y="227421"/>
                  </a:lnTo>
                  <a:close/>
                </a:path>
              </a:pathLst>
            </a:custGeom>
            <a:solidFill>
              <a:srgbClr val="FFFFFF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4" name="任意多边形: 形状 183"/>
            <p:cNvSpPr/>
            <p:nvPr/>
          </p:nvSpPr>
          <p:spPr>
            <a:xfrm>
              <a:off x="10867762" y="2116276"/>
              <a:ext cx="513456" cy="587478"/>
            </a:xfrm>
            <a:custGeom>
              <a:avLst/>
              <a:gdLst>
                <a:gd name="connsiteX0" fmla="*/ 0 w 605994"/>
                <a:gd name="connsiteY0" fmla="*/ 0 h 693357"/>
                <a:gd name="connsiteX1" fmla="*/ 39383 w 605994"/>
                <a:gd name="connsiteY1" fmla="*/ 39105 h 693357"/>
                <a:gd name="connsiteX2" fmla="*/ 473148 w 605994"/>
                <a:gd name="connsiteY2" fmla="*/ 39105 h 693357"/>
                <a:gd name="connsiteX3" fmla="*/ 556905 w 605994"/>
                <a:gd name="connsiteY3" fmla="*/ 123140 h 693357"/>
                <a:gd name="connsiteX4" fmla="*/ 556905 w 605994"/>
                <a:gd name="connsiteY4" fmla="*/ 644268 h 693357"/>
                <a:gd name="connsiteX5" fmla="*/ 605995 w 605994"/>
                <a:gd name="connsiteY5" fmla="*/ 693358 h 69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5994" h="693357">
                  <a:moveTo>
                    <a:pt x="0" y="0"/>
                  </a:moveTo>
                  <a:lnTo>
                    <a:pt x="39383" y="39105"/>
                  </a:lnTo>
                  <a:lnTo>
                    <a:pt x="473148" y="39105"/>
                  </a:lnTo>
                  <a:lnTo>
                    <a:pt x="556905" y="123140"/>
                  </a:lnTo>
                  <a:lnTo>
                    <a:pt x="556905" y="644268"/>
                  </a:lnTo>
                  <a:lnTo>
                    <a:pt x="605995" y="693358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5" name="任意多边形: 形状 184"/>
            <p:cNvSpPr/>
            <p:nvPr/>
          </p:nvSpPr>
          <p:spPr>
            <a:xfrm>
              <a:off x="8275101" y="2117686"/>
              <a:ext cx="1667969" cy="818945"/>
            </a:xfrm>
            <a:custGeom>
              <a:avLst/>
              <a:gdLst>
                <a:gd name="connsiteX0" fmla="*/ 0 w 1968580"/>
                <a:gd name="connsiteY0" fmla="*/ 966541 h 966540"/>
                <a:gd name="connsiteX1" fmla="*/ 66840 w 1968580"/>
                <a:gd name="connsiteY1" fmla="*/ 899701 h 966540"/>
                <a:gd name="connsiteX2" fmla="*/ 66840 w 1968580"/>
                <a:gd name="connsiteY2" fmla="*/ 490343 h 966540"/>
                <a:gd name="connsiteX3" fmla="*/ 419343 w 1968580"/>
                <a:gd name="connsiteY3" fmla="*/ 137840 h 966540"/>
                <a:gd name="connsiteX4" fmla="*/ 540264 w 1968580"/>
                <a:gd name="connsiteY4" fmla="*/ 137840 h 966540"/>
                <a:gd name="connsiteX5" fmla="*/ 624299 w 1968580"/>
                <a:gd name="connsiteY5" fmla="*/ 53805 h 966540"/>
                <a:gd name="connsiteX6" fmla="*/ 1914776 w 1968580"/>
                <a:gd name="connsiteY6" fmla="*/ 53805 h 966540"/>
                <a:gd name="connsiteX7" fmla="*/ 1968581 w 1968580"/>
                <a:gd name="connsiteY7" fmla="*/ 0 h 96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8580" h="966540">
                  <a:moveTo>
                    <a:pt x="0" y="966541"/>
                  </a:moveTo>
                  <a:lnTo>
                    <a:pt x="66840" y="899701"/>
                  </a:lnTo>
                  <a:lnTo>
                    <a:pt x="66840" y="490343"/>
                  </a:lnTo>
                  <a:lnTo>
                    <a:pt x="419343" y="137840"/>
                  </a:lnTo>
                  <a:lnTo>
                    <a:pt x="540264" y="137840"/>
                  </a:lnTo>
                  <a:lnTo>
                    <a:pt x="624299" y="53805"/>
                  </a:lnTo>
                  <a:lnTo>
                    <a:pt x="1914776" y="53805"/>
                  </a:lnTo>
                  <a:lnTo>
                    <a:pt x="1968581" y="0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74" name="文本框 173"/>
          <p:cNvSpPr txBox="1"/>
          <p:nvPr/>
        </p:nvSpPr>
        <p:spPr>
          <a:xfrm>
            <a:off x="5625094" y="2219571"/>
            <a:ext cx="125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91000">
                      <a:schemeClr val="accent1">
                        <a:lumMod val="50000"/>
                      </a:schemeClr>
                    </a:gs>
                  </a:gsLst>
                  <a:lin ang="2700000" scaled="1"/>
                  <a:tileRect/>
                </a:gradFill>
                <a:latin typeface="+mj-ea"/>
                <a:ea typeface="+mj-ea"/>
              </a:rPr>
              <a:t>02</a:t>
            </a:r>
            <a:endParaRPr lang="zh-CN" altLang="en-US" sz="4800" dirty="0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91000">
                    <a:schemeClr val="accent1">
                      <a:lumMod val="50000"/>
                    </a:schemeClr>
                  </a:gs>
                </a:gsLst>
                <a:lin ang="2700000" scaled="1"/>
                <a:tileRect/>
              </a:gradFill>
              <a:latin typeface="+mj-ea"/>
              <a:ea typeface="+mj-ea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7080067" y="2251420"/>
            <a:ext cx="37443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</a:rPr>
              <a:t>核心算法与实验数据</a:t>
            </a:r>
          </a:p>
        </p:txBody>
      </p:sp>
      <p:sp>
        <p:nvSpPr>
          <p:cNvPr id="177" name="文本框 176"/>
          <p:cNvSpPr txBox="1"/>
          <p:nvPr/>
        </p:nvSpPr>
        <p:spPr>
          <a:xfrm>
            <a:off x="7090170" y="2731828"/>
            <a:ext cx="3744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+mn-ea"/>
              </a:rPr>
              <a:t>Core algorithms and experiments</a:t>
            </a:r>
            <a:endParaRPr lang="en-US" altLang="zh-CN" sz="1200" dirty="0">
              <a:latin typeface="+mn-ea"/>
            </a:endParaRPr>
          </a:p>
        </p:txBody>
      </p:sp>
      <p:grpSp>
        <p:nvGrpSpPr>
          <p:cNvPr id="188" name="组合 187"/>
          <p:cNvGrpSpPr/>
          <p:nvPr/>
        </p:nvGrpSpPr>
        <p:grpSpPr>
          <a:xfrm>
            <a:off x="5274781" y="3480211"/>
            <a:ext cx="5671085" cy="1157353"/>
            <a:chOff x="8273926" y="2111812"/>
            <a:chExt cx="3108937" cy="1595592"/>
          </a:xfrm>
        </p:grpSpPr>
        <p:sp>
          <p:nvSpPr>
            <p:cNvPr id="193" name="任意多边形: 形状 192"/>
            <p:cNvSpPr/>
            <p:nvPr/>
          </p:nvSpPr>
          <p:spPr>
            <a:xfrm>
              <a:off x="8273926" y="2116276"/>
              <a:ext cx="3108467" cy="1581729"/>
            </a:xfrm>
            <a:custGeom>
              <a:avLst/>
              <a:gdLst>
                <a:gd name="connsiteX0" fmla="*/ 3168644 w 3668693"/>
                <a:gd name="connsiteY0" fmla="*/ 1866796 h 1866796"/>
                <a:gd name="connsiteX1" fmla="*/ 0 w 3668693"/>
                <a:gd name="connsiteY1" fmla="*/ 1866796 h 1866796"/>
                <a:gd name="connsiteX2" fmla="*/ 0 w 3668693"/>
                <a:gd name="connsiteY2" fmla="*/ 422948 h 1866796"/>
                <a:gd name="connsiteX3" fmla="*/ 423225 w 3668693"/>
                <a:gd name="connsiteY3" fmla="*/ 0 h 1866796"/>
                <a:gd name="connsiteX4" fmla="*/ 3668694 w 3668693"/>
                <a:gd name="connsiteY4" fmla="*/ 0 h 1866796"/>
                <a:gd name="connsiteX5" fmla="*/ 3668694 w 3668693"/>
                <a:gd name="connsiteY5" fmla="*/ 1367024 h 1866796"/>
                <a:gd name="connsiteX6" fmla="*/ 3168644 w 3668693"/>
                <a:gd name="connsiteY6" fmla="*/ 1866796 h 186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8693" h="1866796">
                  <a:moveTo>
                    <a:pt x="3168644" y="1866796"/>
                  </a:moveTo>
                  <a:lnTo>
                    <a:pt x="0" y="1866796"/>
                  </a:lnTo>
                  <a:lnTo>
                    <a:pt x="0" y="422948"/>
                  </a:lnTo>
                  <a:cubicBezTo>
                    <a:pt x="165296" y="257929"/>
                    <a:pt x="257929" y="165296"/>
                    <a:pt x="423225" y="0"/>
                  </a:cubicBezTo>
                  <a:lnTo>
                    <a:pt x="3668694" y="0"/>
                  </a:lnTo>
                  <a:lnTo>
                    <a:pt x="3668694" y="1367024"/>
                  </a:lnTo>
                  <a:cubicBezTo>
                    <a:pt x="3473167" y="1561996"/>
                    <a:pt x="3363894" y="1671547"/>
                    <a:pt x="3168644" y="18667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01600" dist="38100" dir="2700000" sx="101000" sy="101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8274396" y="2111812"/>
              <a:ext cx="277525" cy="276820"/>
            </a:xfrm>
            <a:custGeom>
              <a:avLst/>
              <a:gdLst>
                <a:gd name="connsiteX0" fmla="*/ 832 w 327542"/>
                <a:gd name="connsiteY0" fmla="*/ 326710 h 326710"/>
                <a:gd name="connsiteX1" fmla="*/ 327542 w 327542"/>
                <a:gd name="connsiteY1" fmla="*/ 0 h 326710"/>
                <a:gd name="connsiteX2" fmla="*/ 237683 w 327542"/>
                <a:gd name="connsiteY2" fmla="*/ 0 h 326710"/>
                <a:gd name="connsiteX3" fmla="*/ 0 w 327542"/>
                <a:gd name="connsiteY3" fmla="*/ 237683 h 32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42" h="326710">
                  <a:moveTo>
                    <a:pt x="832" y="326710"/>
                  </a:moveTo>
                  <a:lnTo>
                    <a:pt x="327542" y="0"/>
                  </a:lnTo>
                  <a:lnTo>
                    <a:pt x="237683" y="0"/>
                  </a:lnTo>
                  <a:lnTo>
                    <a:pt x="0" y="237683"/>
                  </a:lnTo>
                  <a:close/>
                </a:path>
              </a:pathLst>
            </a:custGeom>
            <a:solidFill>
              <a:srgbClr val="FFFFFF">
                <a:alpha val="39000"/>
              </a:srgbClr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5" name="任意多边形: 形状 194"/>
            <p:cNvSpPr/>
            <p:nvPr/>
          </p:nvSpPr>
          <p:spPr>
            <a:xfrm>
              <a:off x="8275101" y="2115101"/>
              <a:ext cx="149924" cy="147809"/>
            </a:xfrm>
            <a:custGeom>
              <a:avLst/>
              <a:gdLst>
                <a:gd name="connsiteX0" fmla="*/ 0 w 176944"/>
                <a:gd name="connsiteY0" fmla="*/ 174449 h 174448"/>
                <a:gd name="connsiteX1" fmla="*/ 0 w 176944"/>
                <a:gd name="connsiteY1" fmla="*/ 0 h 174448"/>
                <a:gd name="connsiteX2" fmla="*/ 176945 w 176944"/>
                <a:gd name="connsiteY2" fmla="*/ 0 h 17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6944" h="174448">
                  <a:moveTo>
                    <a:pt x="0" y="174449"/>
                  </a:moveTo>
                  <a:lnTo>
                    <a:pt x="0" y="0"/>
                  </a:lnTo>
                  <a:lnTo>
                    <a:pt x="176945" y="0"/>
                  </a:lnTo>
                  <a:close/>
                </a:path>
              </a:pathLst>
            </a:custGeom>
            <a:solidFill>
              <a:srgbClr val="FFFFFF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8899004" y="3555364"/>
              <a:ext cx="2202105" cy="143345"/>
            </a:xfrm>
            <a:custGeom>
              <a:avLst/>
              <a:gdLst>
                <a:gd name="connsiteX0" fmla="*/ 2598982 w 2598981"/>
                <a:gd name="connsiteY0" fmla="*/ 0 h 169179"/>
                <a:gd name="connsiteX1" fmla="*/ 1129064 w 2598981"/>
                <a:gd name="connsiteY1" fmla="*/ 0 h 169179"/>
                <a:gd name="connsiteX2" fmla="*/ 1026724 w 2598981"/>
                <a:gd name="connsiteY2" fmla="*/ 102340 h 169179"/>
                <a:gd name="connsiteX3" fmla="*/ 66840 w 2598981"/>
                <a:gd name="connsiteY3" fmla="*/ 102340 h 169179"/>
                <a:gd name="connsiteX4" fmla="*/ 0 w 2598981"/>
                <a:gd name="connsiteY4" fmla="*/ 169179 h 16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8981" h="169179">
                  <a:moveTo>
                    <a:pt x="2598982" y="0"/>
                  </a:moveTo>
                  <a:lnTo>
                    <a:pt x="1129064" y="0"/>
                  </a:lnTo>
                  <a:lnTo>
                    <a:pt x="1026724" y="102340"/>
                  </a:lnTo>
                  <a:lnTo>
                    <a:pt x="66840" y="102340"/>
                  </a:lnTo>
                  <a:lnTo>
                    <a:pt x="0" y="169179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11027792" y="3352332"/>
              <a:ext cx="353662" cy="353662"/>
            </a:xfrm>
            <a:custGeom>
              <a:avLst/>
              <a:gdLst>
                <a:gd name="connsiteX0" fmla="*/ 417401 w 417401"/>
                <a:gd name="connsiteY0" fmla="*/ 0 h 417401"/>
                <a:gd name="connsiteX1" fmla="*/ 0 w 417401"/>
                <a:gd name="connsiteY1" fmla="*/ 417401 h 417401"/>
                <a:gd name="connsiteX2" fmla="*/ 417401 w 417401"/>
                <a:gd name="connsiteY2" fmla="*/ 417401 h 41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401" h="417401">
                  <a:moveTo>
                    <a:pt x="417401" y="0"/>
                  </a:moveTo>
                  <a:lnTo>
                    <a:pt x="0" y="417401"/>
                  </a:lnTo>
                  <a:lnTo>
                    <a:pt x="417401" y="417401"/>
                  </a:lnTo>
                  <a:close/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11190170" y="3514711"/>
              <a:ext cx="192693" cy="192693"/>
            </a:xfrm>
            <a:custGeom>
              <a:avLst/>
              <a:gdLst>
                <a:gd name="connsiteX0" fmla="*/ 227421 w 227421"/>
                <a:gd name="connsiteY0" fmla="*/ 0 h 227421"/>
                <a:gd name="connsiteX1" fmla="*/ 0 w 227421"/>
                <a:gd name="connsiteY1" fmla="*/ 227421 h 227421"/>
                <a:gd name="connsiteX2" fmla="*/ 227421 w 227421"/>
                <a:gd name="connsiteY2" fmla="*/ 227421 h 227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421" h="227421">
                  <a:moveTo>
                    <a:pt x="227421" y="0"/>
                  </a:moveTo>
                  <a:lnTo>
                    <a:pt x="0" y="227421"/>
                  </a:lnTo>
                  <a:lnTo>
                    <a:pt x="227421" y="227421"/>
                  </a:lnTo>
                  <a:close/>
                </a:path>
              </a:pathLst>
            </a:custGeom>
            <a:solidFill>
              <a:srgbClr val="FFFFFF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9" name="任意多边形: 形状 198"/>
            <p:cNvSpPr/>
            <p:nvPr/>
          </p:nvSpPr>
          <p:spPr>
            <a:xfrm>
              <a:off x="10867762" y="2116276"/>
              <a:ext cx="513456" cy="587478"/>
            </a:xfrm>
            <a:custGeom>
              <a:avLst/>
              <a:gdLst>
                <a:gd name="connsiteX0" fmla="*/ 0 w 605994"/>
                <a:gd name="connsiteY0" fmla="*/ 0 h 693357"/>
                <a:gd name="connsiteX1" fmla="*/ 39383 w 605994"/>
                <a:gd name="connsiteY1" fmla="*/ 39105 h 693357"/>
                <a:gd name="connsiteX2" fmla="*/ 473148 w 605994"/>
                <a:gd name="connsiteY2" fmla="*/ 39105 h 693357"/>
                <a:gd name="connsiteX3" fmla="*/ 556905 w 605994"/>
                <a:gd name="connsiteY3" fmla="*/ 123140 h 693357"/>
                <a:gd name="connsiteX4" fmla="*/ 556905 w 605994"/>
                <a:gd name="connsiteY4" fmla="*/ 644268 h 693357"/>
                <a:gd name="connsiteX5" fmla="*/ 605995 w 605994"/>
                <a:gd name="connsiteY5" fmla="*/ 693358 h 69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5994" h="693357">
                  <a:moveTo>
                    <a:pt x="0" y="0"/>
                  </a:moveTo>
                  <a:lnTo>
                    <a:pt x="39383" y="39105"/>
                  </a:lnTo>
                  <a:lnTo>
                    <a:pt x="473148" y="39105"/>
                  </a:lnTo>
                  <a:lnTo>
                    <a:pt x="556905" y="123140"/>
                  </a:lnTo>
                  <a:lnTo>
                    <a:pt x="556905" y="644268"/>
                  </a:lnTo>
                  <a:lnTo>
                    <a:pt x="605995" y="693358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8275101" y="2117686"/>
              <a:ext cx="1667969" cy="818945"/>
            </a:xfrm>
            <a:custGeom>
              <a:avLst/>
              <a:gdLst>
                <a:gd name="connsiteX0" fmla="*/ 0 w 1968580"/>
                <a:gd name="connsiteY0" fmla="*/ 966541 h 966540"/>
                <a:gd name="connsiteX1" fmla="*/ 66840 w 1968580"/>
                <a:gd name="connsiteY1" fmla="*/ 899701 h 966540"/>
                <a:gd name="connsiteX2" fmla="*/ 66840 w 1968580"/>
                <a:gd name="connsiteY2" fmla="*/ 490343 h 966540"/>
                <a:gd name="connsiteX3" fmla="*/ 419343 w 1968580"/>
                <a:gd name="connsiteY3" fmla="*/ 137840 h 966540"/>
                <a:gd name="connsiteX4" fmla="*/ 540264 w 1968580"/>
                <a:gd name="connsiteY4" fmla="*/ 137840 h 966540"/>
                <a:gd name="connsiteX5" fmla="*/ 624299 w 1968580"/>
                <a:gd name="connsiteY5" fmla="*/ 53805 h 966540"/>
                <a:gd name="connsiteX6" fmla="*/ 1914776 w 1968580"/>
                <a:gd name="connsiteY6" fmla="*/ 53805 h 966540"/>
                <a:gd name="connsiteX7" fmla="*/ 1968581 w 1968580"/>
                <a:gd name="connsiteY7" fmla="*/ 0 h 96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8580" h="966540">
                  <a:moveTo>
                    <a:pt x="0" y="966541"/>
                  </a:moveTo>
                  <a:lnTo>
                    <a:pt x="66840" y="899701"/>
                  </a:lnTo>
                  <a:lnTo>
                    <a:pt x="66840" y="490343"/>
                  </a:lnTo>
                  <a:lnTo>
                    <a:pt x="419343" y="137840"/>
                  </a:lnTo>
                  <a:lnTo>
                    <a:pt x="540264" y="137840"/>
                  </a:lnTo>
                  <a:lnTo>
                    <a:pt x="624299" y="53805"/>
                  </a:lnTo>
                  <a:lnTo>
                    <a:pt x="1914776" y="53805"/>
                  </a:lnTo>
                  <a:lnTo>
                    <a:pt x="1968581" y="0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89" name="文本框 188"/>
          <p:cNvSpPr txBox="1"/>
          <p:nvPr/>
        </p:nvSpPr>
        <p:spPr>
          <a:xfrm>
            <a:off x="5625094" y="3643389"/>
            <a:ext cx="125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91000">
                      <a:schemeClr val="accent1">
                        <a:lumMod val="50000"/>
                      </a:schemeClr>
                    </a:gs>
                  </a:gsLst>
                  <a:lin ang="2700000" scaled="1"/>
                  <a:tileRect/>
                </a:gradFill>
                <a:latin typeface="+mj-ea"/>
                <a:ea typeface="+mj-ea"/>
              </a:rPr>
              <a:t>03</a:t>
            </a:r>
            <a:endParaRPr lang="zh-CN" altLang="en-US" sz="4800" dirty="0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91000">
                    <a:schemeClr val="accent1">
                      <a:lumMod val="50000"/>
                    </a:schemeClr>
                  </a:gs>
                </a:gsLst>
                <a:lin ang="2700000" scaled="1"/>
                <a:tileRect/>
              </a:gradFill>
              <a:latin typeface="+mj-ea"/>
              <a:ea typeface="+mj-ea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7080067" y="3675238"/>
            <a:ext cx="37443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端侧部署与系统演示</a:t>
            </a:r>
          </a:p>
        </p:txBody>
      </p:sp>
      <p:sp>
        <p:nvSpPr>
          <p:cNvPr id="192" name="文本框 191"/>
          <p:cNvSpPr txBox="1"/>
          <p:nvPr/>
        </p:nvSpPr>
        <p:spPr>
          <a:xfrm>
            <a:off x="7090170" y="4155646"/>
            <a:ext cx="3744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+mn-ea"/>
              </a:rPr>
              <a:t>Edge deployment and demo</a:t>
            </a:r>
            <a:endParaRPr lang="en-US" altLang="zh-CN" sz="1200" dirty="0">
              <a:latin typeface="+mn-ea"/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5274781" y="4904029"/>
            <a:ext cx="5671085" cy="1157353"/>
            <a:chOff x="8273926" y="2111812"/>
            <a:chExt cx="3108937" cy="1595592"/>
          </a:xfrm>
        </p:grpSpPr>
        <p:sp>
          <p:nvSpPr>
            <p:cNvPr id="207" name="任意多边形: 形状 206"/>
            <p:cNvSpPr/>
            <p:nvPr/>
          </p:nvSpPr>
          <p:spPr>
            <a:xfrm>
              <a:off x="8273926" y="2116276"/>
              <a:ext cx="3108467" cy="1581729"/>
            </a:xfrm>
            <a:custGeom>
              <a:avLst/>
              <a:gdLst>
                <a:gd name="connsiteX0" fmla="*/ 3168644 w 3668693"/>
                <a:gd name="connsiteY0" fmla="*/ 1866796 h 1866796"/>
                <a:gd name="connsiteX1" fmla="*/ 0 w 3668693"/>
                <a:gd name="connsiteY1" fmla="*/ 1866796 h 1866796"/>
                <a:gd name="connsiteX2" fmla="*/ 0 w 3668693"/>
                <a:gd name="connsiteY2" fmla="*/ 422948 h 1866796"/>
                <a:gd name="connsiteX3" fmla="*/ 423225 w 3668693"/>
                <a:gd name="connsiteY3" fmla="*/ 0 h 1866796"/>
                <a:gd name="connsiteX4" fmla="*/ 3668694 w 3668693"/>
                <a:gd name="connsiteY4" fmla="*/ 0 h 1866796"/>
                <a:gd name="connsiteX5" fmla="*/ 3668694 w 3668693"/>
                <a:gd name="connsiteY5" fmla="*/ 1367024 h 1866796"/>
                <a:gd name="connsiteX6" fmla="*/ 3168644 w 3668693"/>
                <a:gd name="connsiteY6" fmla="*/ 1866796 h 186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8693" h="1866796">
                  <a:moveTo>
                    <a:pt x="3168644" y="1866796"/>
                  </a:moveTo>
                  <a:lnTo>
                    <a:pt x="0" y="1866796"/>
                  </a:lnTo>
                  <a:lnTo>
                    <a:pt x="0" y="422948"/>
                  </a:lnTo>
                  <a:cubicBezTo>
                    <a:pt x="165296" y="257929"/>
                    <a:pt x="257929" y="165296"/>
                    <a:pt x="423225" y="0"/>
                  </a:cubicBezTo>
                  <a:lnTo>
                    <a:pt x="3668694" y="0"/>
                  </a:lnTo>
                  <a:lnTo>
                    <a:pt x="3668694" y="1367024"/>
                  </a:lnTo>
                  <a:cubicBezTo>
                    <a:pt x="3473167" y="1561996"/>
                    <a:pt x="3363894" y="1671547"/>
                    <a:pt x="3168644" y="18667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01600" dist="38100" dir="2700000" sx="101000" sy="101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8" name="任意多边形: 形状 207"/>
            <p:cNvSpPr/>
            <p:nvPr/>
          </p:nvSpPr>
          <p:spPr>
            <a:xfrm>
              <a:off x="8274396" y="2111812"/>
              <a:ext cx="277525" cy="276820"/>
            </a:xfrm>
            <a:custGeom>
              <a:avLst/>
              <a:gdLst>
                <a:gd name="connsiteX0" fmla="*/ 832 w 327542"/>
                <a:gd name="connsiteY0" fmla="*/ 326710 h 326710"/>
                <a:gd name="connsiteX1" fmla="*/ 327542 w 327542"/>
                <a:gd name="connsiteY1" fmla="*/ 0 h 326710"/>
                <a:gd name="connsiteX2" fmla="*/ 237683 w 327542"/>
                <a:gd name="connsiteY2" fmla="*/ 0 h 326710"/>
                <a:gd name="connsiteX3" fmla="*/ 0 w 327542"/>
                <a:gd name="connsiteY3" fmla="*/ 237683 h 32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42" h="326710">
                  <a:moveTo>
                    <a:pt x="832" y="326710"/>
                  </a:moveTo>
                  <a:lnTo>
                    <a:pt x="327542" y="0"/>
                  </a:lnTo>
                  <a:lnTo>
                    <a:pt x="237683" y="0"/>
                  </a:lnTo>
                  <a:lnTo>
                    <a:pt x="0" y="237683"/>
                  </a:lnTo>
                  <a:close/>
                </a:path>
              </a:pathLst>
            </a:custGeom>
            <a:solidFill>
              <a:srgbClr val="FFFFFF">
                <a:alpha val="39000"/>
              </a:srgbClr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8275101" y="2115101"/>
              <a:ext cx="149924" cy="147809"/>
            </a:xfrm>
            <a:custGeom>
              <a:avLst/>
              <a:gdLst>
                <a:gd name="connsiteX0" fmla="*/ 0 w 176944"/>
                <a:gd name="connsiteY0" fmla="*/ 174449 h 174448"/>
                <a:gd name="connsiteX1" fmla="*/ 0 w 176944"/>
                <a:gd name="connsiteY1" fmla="*/ 0 h 174448"/>
                <a:gd name="connsiteX2" fmla="*/ 176945 w 176944"/>
                <a:gd name="connsiteY2" fmla="*/ 0 h 17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6944" h="174448">
                  <a:moveTo>
                    <a:pt x="0" y="174449"/>
                  </a:moveTo>
                  <a:lnTo>
                    <a:pt x="0" y="0"/>
                  </a:lnTo>
                  <a:lnTo>
                    <a:pt x="176945" y="0"/>
                  </a:lnTo>
                  <a:close/>
                </a:path>
              </a:pathLst>
            </a:custGeom>
            <a:solidFill>
              <a:srgbClr val="FFFFFF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8899004" y="3555364"/>
              <a:ext cx="2202105" cy="143345"/>
            </a:xfrm>
            <a:custGeom>
              <a:avLst/>
              <a:gdLst>
                <a:gd name="connsiteX0" fmla="*/ 2598982 w 2598981"/>
                <a:gd name="connsiteY0" fmla="*/ 0 h 169179"/>
                <a:gd name="connsiteX1" fmla="*/ 1129064 w 2598981"/>
                <a:gd name="connsiteY1" fmla="*/ 0 h 169179"/>
                <a:gd name="connsiteX2" fmla="*/ 1026724 w 2598981"/>
                <a:gd name="connsiteY2" fmla="*/ 102340 h 169179"/>
                <a:gd name="connsiteX3" fmla="*/ 66840 w 2598981"/>
                <a:gd name="connsiteY3" fmla="*/ 102340 h 169179"/>
                <a:gd name="connsiteX4" fmla="*/ 0 w 2598981"/>
                <a:gd name="connsiteY4" fmla="*/ 169179 h 16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8981" h="169179">
                  <a:moveTo>
                    <a:pt x="2598982" y="0"/>
                  </a:moveTo>
                  <a:lnTo>
                    <a:pt x="1129064" y="0"/>
                  </a:lnTo>
                  <a:lnTo>
                    <a:pt x="1026724" y="102340"/>
                  </a:lnTo>
                  <a:lnTo>
                    <a:pt x="66840" y="102340"/>
                  </a:lnTo>
                  <a:lnTo>
                    <a:pt x="0" y="169179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11027792" y="3352332"/>
              <a:ext cx="353662" cy="353662"/>
            </a:xfrm>
            <a:custGeom>
              <a:avLst/>
              <a:gdLst>
                <a:gd name="connsiteX0" fmla="*/ 417401 w 417401"/>
                <a:gd name="connsiteY0" fmla="*/ 0 h 417401"/>
                <a:gd name="connsiteX1" fmla="*/ 0 w 417401"/>
                <a:gd name="connsiteY1" fmla="*/ 417401 h 417401"/>
                <a:gd name="connsiteX2" fmla="*/ 417401 w 417401"/>
                <a:gd name="connsiteY2" fmla="*/ 417401 h 41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401" h="417401">
                  <a:moveTo>
                    <a:pt x="417401" y="0"/>
                  </a:moveTo>
                  <a:lnTo>
                    <a:pt x="0" y="417401"/>
                  </a:lnTo>
                  <a:lnTo>
                    <a:pt x="417401" y="417401"/>
                  </a:lnTo>
                  <a:close/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11190170" y="3514711"/>
              <a:ext cx="192693" cy="192693"/>
            </a:xfrm>
            <a:custGeom>
              <a:avLst/>
              <a:gdLst>
                <a:gd name="connsiteX0" fmla="*/ 227421 w 227421"/>
                <a:gd name="connsiteY0" fmla="*/ 0 h 227421"/>
                <a:gd name="connsiteX1" fmla="*/ 0 w 227421"/>
                <a:gd name="connsiteY1" fmla="*/ 227421 h 227421"/>
                <a:gd name="connsiteX2" fmla="*/ 227421 w 227421"/>
                <a:gd name="connsiteY2" fmla="*/ 227421 h 227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421" h="227421">
                  <a:moveTo>
                    <a:pt x="227421" y="0"/>
                  </a:moveTo>
                  <a:lnTo>
                    <a:pt x="0" y="227421"/>
                  </a:lnTo>
                  <a:lnTo>
                    <a:pt x="227421" y="227421"/>
                  </a:lnTo>
                  <a:close/>
                </a:path>
              </a:pathLst>
            </a:custGeom>
            <a:solidFill>
              <a:srgbClr val="FFFFFF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3" name="任意多边形: 形状 212"/>
            <p:cNvSpPr/>
            <p:nvPr/>
          </p:nvSpPr>
          <p:spPr>
            <a:xfrm>
              <a:off x="10867762" y="2116276"/>
              <a:ext cx="513456" cy="587478"/>
            </a:xfrm>
            <a:custGeom>
              <a:avLst/>
              <a:gdLst>
                <a:gd name="connsiteX0" fmla="*/ 0 w 605994"/>
                <a:gd name="connsiteY0" fmla="*/ 0 h 693357"/>
                <a:gd name="connsiteX1" fmla="*/ 39383 w 605994"/>
                <a:gd name="connsiteY1" fmla="*/ 39105 h 693357"/>
                <a:gd name="connsiteX2" fmla="*/ 473148 w 605994"/>
                <a:gd name="connsiteY2" fmla="*/ 39105 h 693357"/>
                <a:gd name="connsiteX3" fmla="*/ 556905 w 605994"/>
                <a:gd name="connsiteY3" fmla="*/ 123140 h 693357"/>
                <a:gd name="connsiteX4" fmla="*/ 556905 w 605994"/>
                <a:gd name="connsiteY4" fmla="*/ 644268 h 693357"/>
                <a:gd name="connsiteX5" fmla="*/ 605995 w 605994"/>
                <a:gd name="connsiteY5" fmla="*/ 693358 h 69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5994" h="693357">
                  <a:moveTo>
                    <a:pt x="0" y="0"/>
                  </a:moveTo>
                  <a:lnTo>
                    <a:pt x="39383" y="39105"/>
                  </a:lnTo>
                  <a:lnTo>
                    <a:pt x="473148" y="39105"/>
                  </a:lnTo>
                  <a:lnTo>
                    <a:pt x="556905" y="123140"/>
                  </a:lnTo>
                  <a:lnTo>
                    <a:pt x="556905" y="644268"/>
                  </a:lnTo>
                  <a:lnTo>
                    <a:pt x="605995" y="693358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4" name="任意多边形: 形状 213"/>
            <p:cNvSpPr/>
            <p:nvPr/>
          </p:nvSpPr>
          <p:spPr>
            <a:xfrm>
              <a:off x="8275101" y="2117686"/>
              <a:ext cx="1667969" cy="818945"/>
            </a:xfrm>
            <a:custGeom>
              <a:avLst/>
              <a:gdLst>
                <a:gd name="connsiteX0" fmla="*/ 0 w 1968580"/>
                <a:gd name="connsiteY0" fmla="*/ 966541 h 966540"/>
                <a:gd name="connsiteX1" fmla="*/ 66840 w 1968580"/>
                <a:gd name="connsiteY1" fmla="*/ 899701 h 966540"/>
                <a:gd name="connsiteX2" fmla="*/ 66840 w 1968580"/>
                <a:gd name="connsiteY2" fmla="*/ 490343 h 966540"/>
                <a:gd name="connsiteX3" fmla="*/ 419343 w 1968580"/>
                <a:gd name="connsiteY3" fmla="*/ 137840 h 966540"/>
                <a:gd name="connsiteX4" fmla="*/ 540264 w 1968580"/>
                <a:gd name="connsiteY4" fmla="*/ 137840 h 966540"/>
                <a:gd name="connsiteX5" fmla="*/ 624299 w 1968580"/>
                <a:gd name="connsiteY5" fmla="*/ 53805 h 966540"/>
                <a:gd name="connsiteX6" fmla="*/ 1914776 w 1968580"/>
                <a:gd name="connsiteY6" fmla="*/ 53805 h 966540"/>
                <a:gd name="connsiteX7" fmla="*/ 1968581 w 1968580"/>
                <a:gd name="connsiteY7" fmla="*/ 0 h 96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8580" h="966540">
                  <a:moveTo>
                    <a:pt x="0" y="966541"/>
                  </a:moveTo>
                  <a:lnTo>
                    <a:pt x="66840" y="899701"/>
                  </a:lnTo>
                  <a:lnTo>
                    <a:pt x="66840" y="490343"/>
                  </a:lnTo>
                  <a:lnTo>
                    <a:pt x="419343" y="137840"/>
                  </a:lnTo>
                  <a:lnTo>
                    <a:pt x="540264" y="137840"/>
                  </a:lnTo>
                  <a:lnTo>
                    <a:pt x="624299" y="53805"/>
                  </a:lnTo>
                  <a:lnTo>
                    <a:pt x="1914776" y="53805"/>
                  </a:lnTo>
                  <a:lnTo>
                    <a:pt x="1968581" y="0"/>
                  </a:lnTo>
                </a:path>
              </a:pathLst>
            </a:custGeom>
            <a:noFill/>
            <a:ln w="7811" cap="flat">
              <a:solidFill>
                <a:srgbClr val="FFFFFF">
                  <a:alpha val="20000"/>
                </a:srgbClr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03" name="文本框 202"/>
          <p:cNvSpPr txBox="1"/>
          <p:nvPr/>
        </p:nvSpPr>
        <p:spPr>
          <a:xfrm>
            <a:off x="5625094" y="5067207"/>
            <a:ext cx="125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91000">
                      <a:schemeClr val="accent1">
                        <a:lumMod val="50000"/>
                      </a:schemeClr>
                    </a:gs>
                  </a:gsLst>
                  <a:lin ang="2700000" scaled="1"/>
                  <a:tileRect/>
                </a:gradFill>
                <a:latin typeface="+mj-ea"/>
                <a:ea typeface="+mj-ea"/>
              </a:rPr>
              <a:t>04</a:t>
            </a:r>
            <a:endParaRPr lang="zh-CN" altLang="en-US" sz="4800" dirty="0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91000">
                    <a:schemeClr val="accent1">
                      <a:lumMod val="50000"/>
                    </a:schemeClr>
                  </a:gs>
                </a:gsLst>
                <a:lin ang="2700000" scaled="1"/>
                <a:tileRect/>
              </a:gradFill>
              <a:latin typeface="+mj-ea"/>
              <a:ea typeface="+mj-ea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7080067" y="5099056"/>
            <a:ext cx="37443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</a:rPr>
              <a:t>应用推广与未来规划</a:t>
            </a:r>
          </a:p>
        </p:txBody>
      </p:sp>
      <p:sp>
        <p:nvSpPr>
          <p:cNvPr id="206" name="文本框 205"/>
          <p:cNvSpPr txBox="1"/>
          <p:nvPr/>
        </p:nvSpPr>
        <p:spPr>
          <a:xfrm>
            <a:off x="7090170" y="5579464"/>
            <a:ext cx="3744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latin typeface="+mn-ea"/>
              </a:rPr>
              <a:t>Applications and roadmap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218" name="直接连接符 217"/>
          <p:cNvCxnSpPr/>
          <p:nvPr/>
        </p:nvCxnSpPr>
        <p:spPr>
          <a:xfrm>
            <a:off x="6806421" y="714023"/>
            <a:ext cx="0" cy="99445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lumMod val="20000"/>
                    <a:lumOff val="80000"/>
                    <a:alpha val="21000"/>
                  </a:schemeClr>
                </a:gs>
                <a:gs pos="56000">
                  <a:schemeClr val="accent1"/>
                </a:gs>
                <a:gs pos="100000">
                  <a:schemeClr val="accent1">
                    <a:lumMod val="20000"/>
                    <a:lumOff val="80000"/>
                    <a:alpha val="32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>
          <a:xfrm>
            <a:off x="6806421" y="2137841"/>
            <a:ext cx="0" cy="99445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lumMod val="20000"/>
                    <a:lumOff val="80000"/>
                    <a:alpha val="21000"/>
                  </a:schemeClr>
                </a:gs>
                <a:gs pos="56000">
                  <a:schemeClr val="accent1"/>
                </a:gs>
                <a:gs pos="100000">
                  <a:schemeClr val="accent1">
                    <a:lumMod val="20000"/>
                    <a:lumOff val="80000"/>
                    <a:alpha val="32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>
            <a:off x="6806421" y="3561659"/>
            <a:ext cx="0" cy="99445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lumMod val="20000"/>
                    <a:lumOff val="80000"/>
                    <a:alpha val="21000"/>
                  </a:schemeClr>
                </a:gs>
                <a:gs pos="56000">
                  <a:schemeClr val="accent1"/>
                </a:gs>
                <a:gs pos="100000">
                  <a:schemeClr val="accent1">
                    <a:lumMod val="20000"/>
                    <a:lumOff val="80000"/>
                    <a:alpha val="32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>
            <a:off x="6806421" y="4985477"/>
            <a:ext cx="0" cy="99445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lumMod val="20000"/>
                    <a:lumOff val="80000"/>
                    <a:alpha val="21000"/>
                  </a:schemeClr>
                </a:gs>
                <a:gs pos="56000">
                  <a:schemeClr val="accent1"/>
                </a:gs>
                <a:gs pos="100000">
                  <a:schemeClr val="accent1">
                    <a:lumMod val="20000"/>
                    <a:lumOff val="80000"/>
                    <a:alpha val="32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在水里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15632" r="20637" b="760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12192000 w 12192000"/>
              <a:gd name="connsiteY0" fmla="*/ 0 h 6858000"/>
              <a:gd name="connsiteX1" fmla="*/ 0 w 12192000"/>
              <a:gd name="connsiteY1" fmla="*/ 0 h 6858000"/>
              <a:gd name="connsiteX2" fmla="*/ 0 w 12192000"/>
              <a:gd name="connsiteY2" fmla="*/ 6858000 h 6858000"/>
              <a:gd name="connsiteX3" fmla="*/ 1219200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close/>
              </a:path>
            </a:pathLst>
          </a:custGeom>
        </p:spPr>
      </p:pic>
      <p:sp>
        <p:nvSpPr>
          <p:cNvPr id="4" name="文本框 3"/>
          <p:cNvSpPr txBox="1"/>
          <p:nvPr/>
        </p:nvSpPr>
        <p:spPr>
          <a:xfrm>
            <a:off x="1417866" y="1549400"/>
            <a:ext cx="361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accent1"/>
                </a:solidFill>
                <a:latin typeface="+mj-ea"/>
                <a:ea typeface="+mj-ea"/>
              </a:rPr>
              <a:t>PART.01</a:t>
            </a:r>
            <a:endParaRPr lang="zh-CN" altLang="en-US" sz="5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504950" y="2514604"/>
            <a:ext cx="39179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17865" y="2702580"/>
            <a:ext cx="65359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latin typeface="+mj-ea"/>
                <a:ea typeface="+mj-ea"/>
              </a:rPr>
              <a:t>项目背景与总体方案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04949" y="3459673"/>
            <a:ext cx="5084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Background and overall design</a:t>
            </a:r>
            <a:endParaRPr lang="zh-CN" altLang="en-US" sz="1600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7865" y="4104643"/>
            <a:ext cx="4779735" cy="613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面向普通人动作难以自查的痛点，给出端侧 AI 动作识别与规范评估的整体方案。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项目背景与痛点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1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羽毛球普及度高，动作规范却难以自查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专业教练稀缺、费用较高，普通人缺少及时反馈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市面方案多依赖云端，存在隐私与网络依赖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目标：单摄像头加端侧 AI，做随时可用的动作教练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现有技术对比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1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人工录像回看：无量化指标，依赖个人经验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云端动作分析：需联网，隐私风险，评分不透明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本系统：端侧本地运行，实时量化，建议可解释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系统总体设计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1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118872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三级流水线：视频流粗筛 → 姿态关键点 → 识别与评分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一套算法、两种入口：实时与录像共用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局域网 Web：实时、回看、报告、双视角融合</a:t>
            </a:r>
          </a:p>
        </p:txBody>
      </p:sp>
      <p:pic>
        <p:nvPicPr>
          <p:cNvPr id="22" name="Picture 21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053" y="3703320"/>
            <a:ext cx="3699587" cy="2971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在水里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15632" r="20637" b="760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12192000 w 12192000"/>
              <a:gd name="connsiteY0" fmla="*/ 0 h 6858000"/>
              <a:gd name="connsiteX1" fmla="*/ 0 w 12192000"/>
              <a:gd name="connsiteY1" fmla="*/ 0 h 6858000"/>
              <a:gd name="connsiteX2" fmla="*/ 0 w 12192000"/>
              <a:gd name="connsiteY2" fmla="*/ 6858000 h 6858000"/>
              <a:gd name="connsiteX3" fmla="*/ 1219200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close/>
              </a:path>
            </a:pathLst>
          </a:custGeom>
        </p:spPr>
      </p:pic>
      <p:sp>
        <p:nvSpPr>
          <p:cNvPr id="4" name="文本框 3"/>
          <p:cNvSpPr txBox="1"/>
          <p:nvPr/>
        </p:nvSpPr>
        <p:spPr>
          <a:xfrm>
            <a:off x="1417866" y="1549400"/>
            <a:ext cx="361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accent1"/>
                </a:solidFill>
                <a:latin typeface="+mj-ea"/>
                <a:ea typeface="+mj-ea"/>
              </a:rPr>
              <a:t>PART.02</a:t>
            </a:r>
            <a:endParaRPr lang="zh-CN" altLang="en-US" sz="5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504950" y="2514604"/>
            <a:ext cx="39179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17865" y="2702580"/>
            <a:ext cx="65359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dirty="0">
                <a:solidFill>
                  <a:schemeClr val="accent1"/>
                </a:solidFill>
                <a:latin typeface="+mj-ea"/>
                <a:ea typeface="+mj-ea"/>
              </a:rPr>
              <a:t>核心算法与实验数据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46893" y="3459673"/>
            <a:ext cx="5084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Core algorithms and experiments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417865" y="4104643"/>
            <a:ext cx="4779735" cy="613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七类动作识别、分组门控、四项可解释评分，以及目标域微调后的实测结果。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核心技术与创新点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1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活动触发式切分：一拍一次，快慢挥拍自适应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识别门控：无动作不强行归类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AHP 可解释评分：权重可追溯，建议可解释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目标域微调：同人同机位识别 87.9%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双视角融合：正面加侧面分时采集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动作识别与实验数据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1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118872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七类击球：正反手发球、高远球、杀球、吊球、挑球、搓球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过顶/非过顶分组门控，抑制跨组误判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域适配后同人同机位留出准确率 87.9% ± 3.6%</a:t>
            </a:r>
          </a:p>
        </p:txBody>
      </p:sp>
      <p:pic>
        <p:nvPicPr>
          <p:cNvPr id="22" name="Picture 21" descr="fig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186" y="3703320"/>
            <a:ext cx="5001321" cy="2971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四项评分与建议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1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118872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动作标准度 50%、步伐 25%、连贯性 15%、动作识别 10%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识别置信度低于 0.5 时动作分减半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逐条错误规则加纠正话术，评分可解释</a:t>
            </a:r>
          </a:p>
        </p:txBody>
      </p:sp>
      <p:pic>
        <p:nvPicPr>
          <p:cNvPr id="22" name="Picture 21" descr="fig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965" y="3703320"/>
            <a:ext cx="6213763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在水里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15632" r="20637" b="760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12192000 w 12192000"/>
              <a:gd name="connsiteY0" fmla="*/ 0 h 6858000"/>
              <a:gd name="connsiteX1" fmla="*/ 0 w 12192000"/>
              <a:gd name="connsiteY1" fmla="*/ 0 h 6858000"/>
              <a:gd name="connsiteX2" fmla="*/ 0 w 12192000"/>
              <a:gd name="connsiteY2" fmla="*/ 6858000 h 6858000"/>
              <a:gd name="connsiteX3" fmla="*/ 1219200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close/>
              </a:path>
            </a:pathLst>
          </a:custGeom>
        </p:spPr>
      </p:pic>
      <p:sp>
        <p:nvSpPr>
          <p:cNvPr id="4" name="文本框 3"/>
          <p:cNvSpPr txBox="1"/>
          <p:nvPr/>
        </p:nvSpPr>
        <p:spPr>
          <a:xfrm>
            <a:off x="1417866" y="1549400"/>
            <a:ext cx="361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accent1"/>
                </a:solidFill>
                <a:latin typeface="+mj-ea"/>
                <a:ea typeface="+mj-ea"/>
              </a:rPr>
              <a:t>PART.03</a:t>
            </a:r>
            <a:endParaRPr lang="zh-CN" altLang="en-US" sz="5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504950" y="2514604"/>
            <a:ext cx="39179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17865" y="2702580"/>
            <a:ext cx="65359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>
                <a:solidFill>
                  <a:schemeClr val="accent1"/>
                </a:solidFill>
                <a:latin typeface="+mj-ea"/>
                <a:ea typeface="+mj-ea"/>
              </a:rPr>
              <a:t>端侧部署与系统演示</a:t>
            </a:r>
            <a:endParaRPr lang="zh-CN" altLang="en-US" sz="5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6893" y="3459673"/>
            <a:ext cx="5084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>
                <a:latin typeface="+mn-ea"/>
              </a:rPr>
              <a:t>Edge deployment and demo</a:t>
            </a:r>
            <a:endParaRPr lang="en-US" altLang="zh-CN" sz="1600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7865" y="4104643"/>
            <a:ext cx="4779735" cy="613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SC171 端侧部署、四项 Web 视图与性能对比，支持现场实物演示。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端侧部署与性能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1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128016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SC171 v3（QCM6490），ONNX Runtime 纯 CPU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显示 30fps，分析帧率 13~17fps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分类器 ONNX 约 0.36MB，姿态模型约 13MB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切分命中率 95.8%</a:t>
            </a:r>
          </a:p>
        </p:txBody>
      </p:sp>
      <p:pic>
        <p:nvPicPr>
          <p:cNvPr id="22" name="Picture 21" descr="开发板实物照片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676" y="1325880"/>
            <a:ext cx="2067047" cy="28938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系统界面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100" dirty="0">
              <a:latin typeface="+mn-ea"/>
            </a:endParaRPr>
          </a:p>
        </p:txBody>
      </p:sp>
      <p:pic>
        <p:nvPicPr>
          <p:cNvPr id="21" name="Picture 20" descr="实时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947" y="1154755"/>
            <a:ext cx="4754880" cy="24490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0947" y="3633825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微软雅黑"/>
                <a:ea typeface="微软雅黑"/>
              </a:rPr>
              <a:t>实时识别与建议</a:t>
            </a:r>
          </a:p>
        </p:txBody>
      </p:sp>
      <p:pic>
        <p:nvPicPr>
          <p:cNvPr id="23" name="Picture 22" descr="回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1146989"/>
            <a:ext cx="4754880" cy="246455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55867" y="3633825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微软雅黑"/>
                <a:ea typeface="微软雅黑"/>
              </a:rPr>
              <a:t>逐帧回看</a:t>
            </a:r>
          </a:p>
        </p:txBody>
      </p:sp>
      <p:pic>
        <p:nvPicPr>
          <p:cNvPr id="25" name="Picture 24" descr="报告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947" y="3980240"/>
            <a:ext cx="4754880" cy="24380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0947" y="6453835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微软雅黑"/>
                <a:ea typeface="微软雅黑"/>
              </a:rPr>
              <a:t>会话报告</a:t>
            </a:r>
          </a:p>
        </p:txBody>
      </p:sp>
      <p:pic>
        <p:nvPicPr>
          <p:cNvPr id="27" name="Picture 26" descr="融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867" y="3969741"/>
            <a:ext cx="4754880" cy="245907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55867" y="6453835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微软雅黑"/>
                <a:ea typeface="微软雅黑"/>
              </a:rPr>
              <a:t>双视角融合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性能对比与优势验证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1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118872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端侧本地运行，无需联网，保护隐私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量化评分加可解释建议，区别于黑盒打分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实物可在现场演示，非纸面方案</a:t>
            </a:r>
          </a:p>
        </p:txBody>
      </p:sp>
      <p:pic>
        <p:nvPicPr>
          <p:cNvPr id="22" name="Picture 21" descr="fig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387" y="3703320"/>
            <a:ext cx="5684921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在水里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15632" r="20637" b="760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12192000 w 12192000"/>
              <a:gd name="connsiteY0" fmla="*/ 0 h 6858000"/>
              <a:gd name="connsiteX1" fmla="*/ 0 w 12192000"/>
              <a:gd name="connsiteY1" fmla="*/ 0 h 6858000"/>
              <a:gd name="connsiteX2" fmla="*/ 0 w 12192000"/>
              <a:gd name="connsiteY2" fmla="*/ 6858000 h 6858000"/>
              <a:gd name="connsiteX3" fmla="*/ 1219200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close/>
              </a:path>
            </a:pathLst>
          </a:custGeom>
        </p:spPr>
      </p:pic>
      <p:sp>
        <p:nvSpPr>
          <p:cNvPr id="4" name="文本框 3"/>
          <p:cNvSpPr txBox="1"/>
          <p:nvPr/>
        </p:nvSpPr>
        <p:spPr>
          <a:xfrm>
            <a:off x="1417866" y="1549400"/>
            <a:ext cx="361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accent1"/>
                </a:solidFill>
                <a:latin typeface="+mj-ea"/>
                <a:ea typeface="+mj-ea"/>
              </a:rPr>
              <a:t>PART.04</a:t>
            </a:r>
            <a:endParaRPr lang="zh-CN" altLang="en-US" sz="5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504950" y="2514604"/>
            <a:ext cx="39179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17865" y="2702580"/>
            <a:ext cx="65359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>
                <a:solidFill>
                  <a:schemeClr val="accent1"/>
                </a:solidFill>
                <a:latin typeface="+mj-ea"/>
                <a:ea typeface="+mj-ea"/>
              </a:rPr>
              <a:t>应用推广与未来规划</a:t>
            </a:r>
            <a:endParaRPr lang="zh-CN" altLang="en-US" sz="5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6893" y="3459673"/>
            <a:ext cx="5084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>
                <a:latin typeface="+mn-ea"/>
              </a:rPr>
              <a:t>Applications and roadmap</a:t>
            </a:r>
            <a:endParaRPr lang="en-US" altLang="zh-CN" sz="1600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7865" y="4104643"/>
            <a:ext cx="4779735" cy="613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应用场景、低成本平台迁移路径与后续技术演进。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应用场景与推广价值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100" dirty="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体校与俱乐部教学辅助、中小学体育课、居家训练、康复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单摄像头加开发板，硬件成本低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平台解耦：SC171 验证可行性，可迁移到 RK3588 等更低成本平台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同一套框架可迁移到健身、网球、乒乓球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467548" y="287647"/>
            <a:ext cx="1756229" cy="449942"/>
          </a:xfrm>
          <a:prstGeom prst="parallelogram">
            <a:avLst>
              <a:gd name="adj" fmla="val 33468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j-ea"/>
                <a:ea typeface="+mj-ea"/>
              </a:rPr>
              <a:t>项目重点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2147124" y="287647"/>
            <a:ext cx="246744" cy="449942"/>
          </a:xfrm>
          <a:prstGeom prst="parallelogram">
            <a:avLst>
              <a:gd name="adj" fmla="val 58455"/>
            </a:avLst>
          </a:prstGeom>
          <a:gradFill flip="none" rotWithShape="1">
            <a:gsLst>
              <a:gs pos="400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93868" y="348607"/>
            <a:ext cx="290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应用推广与未来规划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04153" y="524278"/>
            <a:ext cx="3134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1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已完成数据、训练、评分、部署全链路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未来：NPU 加速、更多运动、专业示范数据集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社会价值：普及科学健身、缓解教练不足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在水里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2" r="12773"/>
          <a:stretch>
            <a:fillRect/>
          </a:stretch>
        </p:blipFill>
        <p:spPr>
          <a:xfrm>
            <a:off x="0" y="0"/>
            <a:ext cx="124968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文本框 11"/>
          <p:cNvSpPr txBox="1"/>
          <p:nvPr/>
        </p:nvSpPr>
        <p:spPr>
          <a:xfrm>
            <a:off x="1082674" y="1899245"/>
            <a:ext cx="57766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latin typeface="+mj-ea"/>
                <a:ea typeface="+mj-ea"/>
              </a:rPr>
              <a:t>轻羽智评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82674" y="2964962"/>
            <a:ext cx="62134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+mj-ea"/>
                <a:ea typeface="+mj-ea"/>
              </a:rPr>
              <a:t>感谢您的认真聆听！</a:t>
            </a:r>
          </a:p>
        </p:txBody>
      </p:sp>
      <p:sp>
        <p:nvSpPr>
          <p:cNvPr id="15" name="矩形 14"/>
          <p:cNvSpPr/>
          <p:nvPr/>
        </p:nvSpPr>
        <p:spPr>
          <a:xfrm>
            <a:off x="678089" y="1957727"/>
            <a:ext cx="275770" cy="8458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01725" y="3710107"/>
            <a:ext cx="54324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Smart Badminton · Edge AI Action Assessment</a:t>
            </a:r>
            <a:endParaRPr lang="zh-CN" altLang="en-US" sz="1400" dirty="0">
              <a:latin typeface="+mn-ea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208086" y="5153780"/>
            <a:ext cx="3041796" cy="5683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016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/>
        </p:nvSpPr>
        <p:spPr>
          <a:xfrm>
            <a:off x="1208086" y="5153779"/>
            <a:ext cx="838200" cy="56832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  <a:effectLst>
            <a:outerShdw blurRad="1016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772" y="5226051"/>
            <a:ext cx="442828" cy="442828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038010" y="5268665"/>
            <a:ext cx="2086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+mj-ea"/>
                <a:ea typeface="+mj-ea"/>
              </a:rPr>
              <a:t>汇报时间：2026.10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1208085" y="4399103"/>
            <a:ext cx="3041797" cy="56832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016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/>
        </p:nvSpPr>
        <p:spPr>
          <a:xfrm>
            <a:off x="1208086" y="4399102"/>
            <a:ext cx="838200" cy="56832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  <a:effectLst>
            <a:outerShdw blurRad="1016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772" y="4485578"/>
            <a:ext cx="395372" cy="3953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4792352-DC8D-BE63-5FC1-51EC00A0F16F}"/>
              </a:ext>
            </a:extLst>
          </p:cNvPr>
          <p:cNvSpPr txBox="1"/>
          <p:nvPr/>
        </p:nvSpPr>
        <p:spPr>
          <a:xfrm>
            <a:off x="2038009" y="4513988"/>
            <a:ext cx="2450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+mj-ea"/>
                <a:ea typeface="+mj-ea"/>
              </a:rPr>
              <a:t>汇报人：XXXX、XXXX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6ef0823-20c7-4493-9509-b0954ebc09f9"/>
  <p:tag name="COMMONDATA" val="eyJoZGlkIjoiOWQ1ZGJiMmQ1NjFmZGIwOTJmYjcyMmNkYjhlZGYxYjIifQ=="/>
</p:tagLst>
</file>

<file path=ppt/theme/theme1.xml><?xml version="1.0" encoding="utf-8"?>
<a:theme xmlns:a="http://schemas.openxmlformats.org/drawingml/2006/main" name="Office 主题​​">
  <a:themeElements>
    <a:clrScheme name="商务风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765ED"/>
      </a:accent1>
      <a:accent2>
        <a:srgbClr val="0765ED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个人介绍">
      <a:majorFont>
        <a:latin typeface="等线 Light"/>
        <a:ea typeface="思源宋体 CN Heavy"/>
        <a:cs typeface=""/>
      </a:majorFont>
      <a:minorFont>
        <a:latin typeface="等线"/>
        <a:ea typeface="思源宋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 CN Medium"/>
        <a:ea typeface=""/>
        <a:cs typeface=""/>
        <a:font script="Jpan" typeface="游ゴシック"/>
        <a:font script="Hang" typeface="맑은 고딕"/>
        <a:font script="Hans" typeface="思源宋体 CN Medium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 CN 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647</Words>
  <Application>Microsoft Office PowerPoint</Application>
  <PresentationFormat>宽屏</PresentationFormat>
  <Paragraphs>101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思源宋体 CN Medium</vt:lpstr>
      <vt:lpstr>等线 Light</vt:lpstr>
      <vt:lpstr>思源宋体 CN Heavy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dzv1002024@outlook.com</dc:creator>
  <cp:lastModifiedBy>伟强 孙</cp:lastModifiedBy>
  <cp:revision>13</cp:revision>
  <dcterms:created xsi:type="dcterms:W3CDTF">2025-05-30T06:01:00Z</dcterms:created>
  <dcterms:modified xsi:type="dcterms:W3CDTF">2026-10-17T09:42:19Z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040C4C9210A041F79571249F014E58A7</vt:lpwstr>
  </property>
  <property fmtid="{D5CDD505-2E9C-101B-9397-08002B2CF9AE}" pid="3" name="KSOProductBuildVer">
    <vt:lpwstr>2052-11.1.0.12173</vt:lpwstr>
  </property>
</Properties>
</file>